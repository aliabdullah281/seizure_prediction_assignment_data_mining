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6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6320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0" y="3657600"/>
            <a:ext cx="9144000" cy="54864"/>
          </a:xfrm>
          <a:prstGeom prst="rect">
            <a:avLst/>
          </a:prstGeom>
          <a:solidFill>
            <a:srgbClr val="FF6B35"/>
          </a:solidFill>
          <a:ln w="12700">
            <a:solidFill>
              <a:srgbClr val="FF6B35"/>
            </a:solidFill>
            <a:prstDash val="solid"/>
          </a:ln>
        </p:spPr>
      </p:sp>
      <p:sp>
        <p:nvSpPr>
          <p:cNvPr id="3" name="Text 1"/>
          <p:cNvSpPr/>
          <p:nvPr/>
        </p:nvSpPr>
        <p:spPr>
          <a:xfrm>
            <a:off x="457200" y="502920"/>
            <a:ext cx="8229600" cy="1645920"/>
          </a:xfrm>
          <a:prstGeom prst="rect">
            <a:avLst/>
          </a:prstGeom>
          <a:noFill/>
          <a:ln/>
        </p:spPr>
        <p:txBody>
          <a:bodyPr wrap="square"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Seizure Prediction Using</a:t>
            </a:r>
            <a:endParaRPr lang="en-US" sz="3800" dirty="0"/>
          </a:p>
          <a:p>
            <a:pPr marL="0" indent="0" algn="ctr">
              <a:buNone/>
            </a:pPr>
            <a:r>
              <a:rPr lang="en-US" sz="3800" b="1" dirty="0">
                <a:solidFill>
                  <a:srgbClr val="FFFFFF"/>
                </a:solidFill>
                <a:latin typeface="Calibri" pitchFamily="34" charset="0"/>
                <a:ea typeface="Calibri" pitchFamily="34" charset="-122"/>
                <a:cs typeface="Calibri" pitchFamily="34" charset="-120"/>
              </a:rPr>
              <a:t>Logistic Regression</a:t>
            </a:r>
            <a:endParaRPr lang="en-US" sz="3800" dirty="0"/>
          </a:p>
        </p:txBody>
      </p:sp>
      <p:sp>
        <p:nvSpPr>
          <p:cNvPr id="4" name="Text 2"/>
          <p:cNvSpPr/>
          <p:nvPr/>
        </p:nvSpPr>
        <p:spPr>
          <a:xfrm>
            <a:off x="457200" y="2057400"/>
            <a:ext cx="8229600" cy="822960"/>
          </a:xfrm>
          <a:prstGeom prst="rect">
            <a:avLst/>
          </a:prstGeom>
          <a:noFill/>
          <a:ln/>
        </p:spPr>
        <p:txBody>
          <a:bodyPr wrap="square" rtlCol="0" anchor="ctr"/>
          <a:lstStyle/>
          <a:p>
            <a:pPr marL="0" indent="0" algn="ctr">
              <a:buNone/>
            </a:pPr>
            <a:r>
              <a:rPr lang="en-US" sz="2000" i="1" dirty="0">
                <a:solidFill>
                  <a:srgbClr val="A8C4E0"/>
                </a:solidFill>
                <a:latin typeface="Calibri" pitchFamily="34" charset="0"/>
                <a:ea typeface="Calibri" pitchFamily="34" charset="-122"/>
                <a:cs typeface="Calibri" pitchFamily="34" charset="-120"/>
              </a:rPr>
              <a:t>Effects of Preprocessing, Regularization &amp;</a:t>
            </a:r>
            <a:endParaRPr lang="en-US" sz="2000" dirty="0"/>
          </a:p>
          <a:p>
            <a:pPr marL="0" indent="0" algn="ctr">
              <a:buNone/>
            </a:pPr>
            <a:r>
              <a:rPr lang="en-US" sz="2000" i="1" dirty="0">
                <a:solidFill>
                  <a:srgbClr val="A8C4E0"/>
                </a:solidFill>
                <a:latin typeface="Calibri" pitchFamily="34" charset="0"/>
                <a:ea typeface="Calibri" pitchFamily="34" charset="-122"/>
                <a:cs typeface="Calibri" pitchFamily="34" charset="-120"/>
              </a:rPr>
              <a:t>Class Imbalance Handling</a:t>
            </a:r>
            <a:endParaRPr lang="en-US" sz="2000" dirty="0"/>
          </a:p>
        </p:txBody>
      </p:sp>
      <p:sp>
        <p:nvSpPr>
          <p:cNvPr id="5" name="Shape 3"/>
          <p:cNvSpPr/>
          <p:nvPr/>
        </p:nvSpPr>
        <p:spPr>
          <a:xfrm>
            <a:off x="2926080" y="2971800"/>
            <a:ext cx="3291840" cy="502920"/>
          </a:xfrm>
          <a:prstGeom prst="rect">
            <a:avLst/>
          </a:prstGeom>
          <a:solidFill>
            <a:srgbClr val="FF6B35"/>
          </a:solidFill>
          <a:ln w="12700">
            <a:solidFill>
              <a:srgbClr val="FF6B35"/>
            </a:solidFill>
            <a:prstDash val="solid"/>
          </a:ln>
          <a:effectLst>
            <a:outerShdw blurRad="63500" dist="25400" dir="8100000" algn="bl" rotWithShape="0">
              <a:srgbClr val="000000">
                <a:alpha val="12000"/>
              </a:srgbClr>
            </a:outerShdw>
          </a:effectLst>
        </p:spPr>
      </p:sp>
      <p:sp>
        <p:nvSpPr>
          <p:cNvPr id="6" name="Text 4"/>
          <p:cNvSpPr/>
          <p:nvPr/>
        </p:nvSpPr>
        <p:spPr>
          <a:xfrm>
            <a:off x="2926080" y="2971800"/>
            <a:ext cx="3291840" cy="502920"/>
          </a:xfrm>
          <a:prstGeom prst="rect">
            <a:avLst/>
          </a:prstGeom>
          <a:noFill/>
          <a:ln/>
        </p:spPr>
        <p:txBody>
          <a:bodyPr wrap="square" lIns="0" tIns="0" rIns="0" bIns="0" rtlCol="0" anchor="ctr"/>
          <a:lstStyle/>
          <a:p>
            <a:pPr marL="0" indent="0" algn="ctr">
              <a:buNone/>
            </a:pPr>
            <a:r>
              <a:rPr lang="en-US" sz="1600" dirty="0"/>
              <a:t>Ali Abdur Rehman</a:t>
            </a:r>
          </a:p>
        </p:txBody>
      </p:sp>
      <p:sp>
        <p:nvSpPr>
          <p:cNvPr id="7" name="Text 5"/>
          <p:cNvSpPr/>
          <p:nvPr/>
        </p:nvSpPr>
        <p:spPr>
          <a:xfrm>
            <a:off x="0" y="4736592"/>
            <a:ext cx="9144000" cy="320040"/>
          </a:xfrm>
          <a:prstGeom prst="rect">
            <a:avLst/>
          </a:prstGeom>
          <a:noFill/>
          <a:ln/>
        </p:spPr>
        <p:txBody>
          <a:bodyPr wrap="square" rtlCol="0" anchor="ctr"/>
          <a:lstStyle/>
          <a:p>
            <a:pPr marL="0" indent="0" algn="ctr">
              <a:buNone/>
            </a:pPr>
            <a:r>
              <a:rPr lang="en-US" sz="1000" dirty="0">
                <a:solidFill>
                  <a:srgbClr val="8BA8C4"/>
                </a:solidFill>
                <a:latin typeface="Calibri" pitchFamily="34" charset="0"/>
                <a:ea typeface="Calibri" pitchFamily="34" charset="-122"/>
                <a:cs typeface="Calibri" pitchFamily="34" charset="-120"/>
              </a:rPr>
              <a:t>Advance Topics in Data Mining  |  Semester Major Assignment  |  May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w="12700">
            <a:solidFill>
              <a:srgbClr val="1F3864"/>
            </a:solidFill>
            <a:prstDash val="solid"/>
          </a:ln>
        </p:spPr>
      </p:sp>
      <p:sp>
        <p:nvSpPr>
          <p:cNvPr id="3" name="Text 1"/>
          <p:cNvSpPr/>
          <p:nvPr/>
        </p:nvSpPr>
        <p:spPr>
          <a:xfrm>
            <a:off x="320040" y="36576"/>
            <a:ext cx="8503920" cy="61264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Overview</a:t>
            </a:r>
            <a:endParaRPr lang="en-US" sz="2200" dirty="0"/>
          </a:p>
        </p:txBody>
      </p:sp>
      <p:sp>
        <p:nvSpPr>
          <p:cNvPr id="4" name="Text 2"/>
          <p:cNvSpPr/>
          <p:nvPr/>
        </p:nvSpPr>
        <p:spPr>
          <a:xfrm>
            <a:off x="7772400" y="4892040"/>
            <a:ext cx="1188720" cy="201168"/>
          </a:xfrm>
          <a:prstGeom prst="rect">
            <a:avLst/>
          </a:prstGeom>
          <a:noFill/>
          <a:ln/>
        </p:spPr>
        <p:txBody>
          <a:bodyPr wrap="square" rtlCol="0" anchor="ctr"/>
          <a:lstStyle/>
          <a:p>
            <a:pPr marL="0" indent="0" algn="r">
              <a:buNone/>
            </a:pPr>
            <a:endParaRPr lang="en-US" sz="900" dirty="0"/>
          </a:p>
        </p:txBody>
      </p:sp>
      <p:sp>
        <p:nvSpPr>
          <p:cNvPr id="5" name="Shape 3"/>
          <p:cNvSpPr/>
          <p:nvPr/>
        </p:nvSpPr>
        <p:spPr>
          <a:xfrm>
            <a:off x="274320" y="868680"/>
            <a:ext cx="4206240" cy="1143000"/>
          </a:xfrm>
          <a:prstGeom prst="rect">
            <a:avLst/>
          </a:prstGeom>
          <a:solidFill>
            <a:srgbClr val="F1F5F9"/>
          </a:solidFill>
          <a:ln w="12700">
            <a:solidFill>
              <a:srgbClr val="CBD5E1"/>
            </a:solidFill>
            <a:prstDash val="solid"/>
          </a:ln>
          <a:effectLst>
            <a:outerShdw blurRad="63500" dist="25400" dir="8100000" algn="bl" rotWithShape="0">
              <a:srgbClr val="000000">
                <a:alpha val="12000"/>
              </a:srgbClr>
            </a:outerShdw>
          </a:effectLst>
        </p:spPr>
      </p:sp>
      <p:sp>
        <p:nvSpPr>
          <p:cNvPr id="6" name="Shape 4"/>
          <p:cNvSpPr/>
          <p:nvPr/>
        </p:nvSpPr>
        <p:spPr>
          <a:xfrm>
            <a:off x="274320" y="868680"/>
            <a:ext cx="502920" cy="1143000"/>
          </a:xfrm>
          <a:prstGeom prst="rect">
            <a:avLst/>
          </a:prstGeom>
          <a:solidFill>
            <a:srgbClr val="1F3864"/>
          </a:solidFill>
          <a:ln w="12700">
            <a:solidFill>
              <a:srgbClr val="1F3864"/>
            </a:solidFill>
            <a:prstDash val="solid"/>
          </a:ln>
        </p:spPr>
      </p:sp>
      <p:sp>
        <p:nvSpPr>
          <p:cNvPr id="7" name="Text 5"/>
          <p:cNvSpPr/>
          <p:nvPr/>
        </p:nvSpPr>
        <p:spPr>
          <a:xfrm>
            <a:off x="274320" y="868680"/>
            <a:ext cx="502920" cy="1143000"/>
          </a:xfrm>
          <a:prstGeom prst="rect">
            <a:avLst/>
          </a:prstGeom>
          <a:noFill/>
          <a:ln/>
        </p:spPr>
        <p:txBody>
          <a:bodyPr wrap="square" lIns="0" tIns="0" rIns="0" bIns="0" rtlCol="0" anchor="ctr"/>
          <a:lstStyle/>
          <a:p>
            <a:pPr marL="0" indent="0" algn="ctr">
              <a:buNone/>
            </a:pPr>
            <a:r>
              <a:rPr lang="en-US" sz="1800" b="1" dirty="0">
                <a:solidFill>
                  <a:srgbClr val="FF6B35"/>
                </a:solidFill>
                <a:latin typeface="Calibri" pitchFamily="34" charset="0"/>
                <a:ea typeface="Calibri" pitchFamily="34" charset="-122"/>
                <a:cs typeface="Calibri" pitchFamily="34" charset="-120"/>
              </a:rPr>
              <a:t>01</a:t>
            </a:r>
            <a:endParaRPr lang="en-US" sz="1800" dirty="0"/>
          </a:p>
        </p:txBody>
      </p:sp>
      <p:sp>
        <p:nvSpPr>
          <p:cNvPr id="8" name="Text 6"/>
          <p:cNvSpPr/>
          <p:nvPr/>
        </p:nvSpPr>
        <p:spPr>
          <a:xfrm>
            <a:off x="868680" y="960120"/>
            <a:ext cx="3520440" cy="365760"/>
          </a:xfrm>
          <a:prstGeom prst="rect">
            <a:avLst/>
          </a:prstGeom>
          <a:noFill/>
          <a:ln/>
        </p:spPr>
        <p:txBody>
          <a:bodyPr wrap="square" rtlCol="0" anchor="t"/>
          <a:lstStyle/>
          <a:p>
            <a:pPr marL="0" indent="0">
              <a:buNone/>
            </a:pPr>
            <a:r>
              <a:rPr lang="en-US" sz="1300" b="1" dirty="0">
                <a:solidFill>
                  <a:srgbClr val="1F3864"/>
                </a:solidFill>
                <a:latin typeface="Calibri" pitchFamily="34" charset="0"/>
                <a:ea typeface="Calibri" pitchFamily="34" charset="-122"/>
                <a:cs typeface="Calibri" pitchFamily="34" charset="-120"/>
              </a:rPr>
              <a:t>Problem Statement &amp; Dataset</a:t>
            </a:r>
            <a:endParaRPr lang="en-US" sz="1300" dirty="0"/>
          </a:p>
        </p:txBody>
      </p:sp>
      <p:sp>
        <p:nvSpPr>
          <p:cNvPr id="9" name="Text 7"/>
          <p:cNvSpPr/>
          <p:nvPr/>
        </p:nvSpPr>
        <p:spPr>
          <a:xfrm>
            <a:off x="868680" y="1325880"/>
            <a:ext cx="3520440" cy="594360"/>
          </a:xfrm>
          <a:prstGeom prst="rect">
            <a:avLst/>
          </a:prstGeom>
          <a:noFill/>
          <a:ln/>
        </p:spPr>
        <p:txBody>
          <a:bodyPr wrap="square" rtlCol="0" anchor="t"/>
          <a:lstStyle/>
          <a:p>
            <a:pPr marL="0" indent="0">
              <a:buNone/>
            </a:pPr>
            <a:r>
              <a:rPr lang="en-US" sz="1000" i="1" dirty="0">
                <a:solidFill>
                  <a:srgbClr val="64748B"/>
                </a:solidFill>
                <a:latin typeface="Calibri" pitchFamily="34" charset="0"/>
                <a:ea typeface="Calibri" pitchFamily="34" charset="-122"/>
                <a:cs typeface="Calibri" pitchFamily="34" charset="-120"/>
              </a:rPr>
              <a:t>EEG seizure prediction, Bonn dataset, 3 class scenarios</a:t>
            </a:r>
            <a:endParaRPr lang="en-US" sz="1000" dirty="0"/>
          </a:p>
        </p:txBody>
      </p:sp>
      <p:sp>
        <p:nvSpPr>
          <p:cNvPr id="10" name="Shape 8"/>
          <p:cNvSpPr/>
          <p:nvPr/>
        </p:nvSpPr>
        <p:spPr>
          <a:xfrm>
            <a:off x="274320" y="2212848"/>
            <a:ext cx="4206240" cy="1143000"/>
          </a:xfrm>
          <a:prstGeom prst="rect">
            <a:avLst/>
          </a:prstGeom>
          <a:solidFill>
            <a:srgbClr val="F1F5F9"/>
          </a:solidFill>
          <a:ln w="12700">
            <a:solidFill>
              <a:srgbClr val="CBD5E1"/>
            </a:solidFill>
            <a:prstDash val="solid"/>
          </a:ln>
          <a:effectLst>
            <a:outerShdw blurRad="63500" dist="25400" dir="8100000" algn="bl" rotWithShape="0">
              <a:srgbClr val="000000">
                <a:alpha val="12000"/>
              </a:srgbClr>
            </a:outerShdw>
          </a:effectLst>
        </p:spPr>
      </p:sp>
      <p:sp>
        <p:nvSpPr>
          <p:cNvPr id="11" name="Shape 9"/>
          <p:cNvSpPr/>
          <p:nvPr/>
        </p:nvSpPr>
        <p:spPr>
          <a:xfrm>
            <a:off x="274320" y="2212848"/>
            <a:ext cx="502920" cy="1143000"/>
          </a:xfrm>
          <a:prstGeom prst="rect">
            <a:avLst/>
          </a:prstGeom>
          <a:solidFill>
            <a:srgbClr val="1F3864"/>
          </a:solidFill>
          <a:ln w="12700">
            <a:solidFill>
              <a:srgbClr val="1F3864"/>
            </a:solidFill>
            <a:prstDash val="solid"/>
          </a:ln>
        </p:spPr>
      </p:sp>
      <p:sp>
        <p:nvSpPr>
          <p:cNvPr id="12" name="Text 10"/>
          <p:cNvSpPr/>
          <p:nvPr/>
        </p:nvSpPr>
        <p:spPr>
          <a:xfrm>
            <a:off x="274320" y="2212848"/>
            <a:ext cx="502920" cy="1143000"/>
          </a:xfrm>
          <a:prstGeom prst="rect">
            <a:avLst/>
          </a:prstGeom>
          <a:noFill/>
          <a:ln/>
        </p:spPr>
        <p:txBody>
          <a:bodyPr wrap="square" lIns="0" tIns="0" rIns="0" bIns="0" rtlCol="0" anchor="ctr"/>
          <a:lstStyle/>
          <a:p>
            <a:pPr marL="0" indent="0" algn="ctr">
              <a:buNone/>
            </a:pPr>
            <a:r>
              <a:rPr lang="en-US" sz="1800" b="1" dirty="0">
                <a:solidFill>
                  <a:srgbClr val="FF6B35"/>
                </a:solidFill>
                <a:latin typeface="Calibri" pitchFamily="34" charset="0"/>
                <a:ea typeface="Calibri" pitchFamily="34" charset="-122"/>
                <a:cs typeface="Calibri" pitchFamily="34" charset="-120"/>
              </a:rPr>
              <a:t>02</a:t>
            </a:r>
            <a:endParaRPr lang="en-US" sz="1800" dirty="0"/>
          </a:p>
        </p:txBody>
      </p:sp>
      <p:sp>
        <p:nvSpPr>
          <p:cNvPr id="13" name="Text 11"/>
          <p:cNvSpPr/>
          <p:nvPr/>
        </p:nvSpPr>
        <p:spPr>
          <a:xfrm>
            <a:off x="868680" y="2304288"/>
            <a:ext cx="3520440" cy="365760"/>
          </a:xfrm>
          <a:prstGeom prst="rect">
            <a:avLst/>
          </a:prstGeom>
          <a:noFill/>
          <a:ln/>
        </p:spPr>
        <p:txBody>
          <a:bodyPr wrap="square" rtlCol="0" anchor="t"/>
          <a:lstStyle/>
          <a:p>
            <a:pPr marL="0" indent="0">
              <a:buNone/>
            </a:pPr>
            <a:r>
              <a:rPr lang="en-US" sz="1300" b="1" dirty="0">
                <a:solidFill>
                  <a:srgbClr val="1F3864"/>
                </a:solidFill>
                <a:latin typeface="Calibri" pitchFamily="34" charset="0"/>
                <a:ea typeface="Calibri" pitchFamily="34" charset="-122"/>
                <a:cs typeface="Calibri" pitchFamily="34" charset="-120"/>
              </a:rPr>
              <a:t>Preprocessing Pipelines (A vs B)</a:t>
            </a:r>
            <a:endParaRPr lang="en-US" sz="1300" dirty="0"/>
          </a:p>
        </p:txBody>
      </p:sp>
      <p:sp>
        <p:nvSpPr>
          <p:cNvPr id="14" name="Text 12"/>
          <p:cNvSpPr/>
          <p:nvPr/>
        </p:nvSpPr>
        <p:spPr>
          <a:xfrm>
            <a:off x="868680" y="2670048"/>
            <a:ext cx="3520440" cy="594360"/>
          </a:xfrm>
          <a:prstGeom prst="rect">
            <a:avLst/>
          </a:prstGeom>
          <a:noFill/>
          <a:ln/>
        </p:spPr>
        <p:txBody>
          <a:bodyPr wrap="square" rtlCol="0" anchor="t"/>
          <a:lstStyle/>
          <a:p>
            <a:pPr marL="0" indent="0">
              <a:buNone/>
            </a:pPr>
            <a:r>
              <a:rPr lang="en-US" sz="1000" i="1" dirty="0">
                <a:solidFill>
                  <a:srgbClr val="64748B"/>
                </a:solidFill>
                <a:latin typeface="Calibri" pitchFamily="34" charset="0"/>
                <a:ea typeface="Calibri" pitchFamily="34" charset="-122"/>
                <a:cs typeface="Calibri" pitchFamily="34" charset="-120"/>
              </a:rPr>
              <a:t>Raw signal vs feature engineering approach</a:t>
            </a:r>
            <a:endParaRPr lang="en-US" sz="1000" dirty="0"/>
          </a:p>
        </p:txBody>
      </p:sp>
      <p:sp>
        <p:nvSpPr>
          <p:cNvPr id="15" name="Shape 13"/>
          <p:cNvSpPr/>
          <p:nvPr/>
        </p:nvSpPr>
        <p:spPr>
          <a:xfrm>
            <a:off x="274320" y="3557016"/>
            <a:ext cx="4206240" cy="1143000"/>
          </a:xfrm>
          <a:prstGeom prst="rect">
            <a:avLst/>
          </a:prstGeom>
          <a:solidFill>
            <a:srgbClr val="F1F5F9"/>
          </a:solidFill>
          <a:ln w="12700">
            <a:solidFill>
              <a:srgbClr val="CBD5E1"/>
            </a:solidFill>
            <a:prstDash val="solid"/>
          </a:ln>
          <a:effectLst>
            <a:outerShdw blurRad="63500" dist="25400" dir="8100000" algn="bl" rotWithShape="0">
              <a:srgbClr val="000000">
                <a:alpha val="12000"/>
              </a:srgbClr>
            </a:outerShdw>
          </a:effectLst>
        </p:spPr>
      </p:sp>
      <p:sp>
        <p:nvSpPr>
          <p:cNvPr id="16" name="Shape 14"/>
          <p:cNvSpPr/>
          <p:nvPr/>
        </p:nvSpPr>
        <p:spPr>
          <a:xfrm>
            <a:off x="274320" y="3557016"/>
            <a:ext cx="502920" cy="1143000"/>
          </a:xfrm>
          <a:prstGeom prst="rect">
            <a:avLst/>
          </a:prstGeom>
          <a:solidFill>
            <a:srgbClr val="1F3864"/>
          </a:solidFill>
          <a:ln w="12700">
            <a:solidFill>
              <a:srgbClr val="1F3864"/>
            </a:solidFill>
            <a:prstDash val="solid"/>
          </a:ln>
        </p:spPr>
      </p:sp>
      <p:sp>
        <p:nvSpPr>
          <p:cNvPr id="17" name="Text 15"/>
          <p:cNvSpPr/>
          <p:nvPr/>
        </p:nvSpPr>
        <p:spPr>
          <a:xfrm>
            <a:off x="274320" y="3557016"/>
            <a:ext cx="502920" cy="1143000"/>
          </a:xfrm>
          <a:prstGeom prst="rect">
            <a:avLst/>
          </a:prstGeom>
          <a:noFill/>
          <a:ln/>
        </p:spPr>
        <p:txBody>
          <a:bodyPr wrap="square" lIns="0" tIns="0" rIns="0" bIns="0" rtlCol="0" anchor="ctr"/>
          <a:lstStyle/>
          <a:p>
            <a:pPr marL="0" indent="0" algn="ctr">
              <a:buNone/>
            </a:pPr>
            <a:r>
              <a:rPr lang="en-US" sz="1800" b="1" dirty="0">
                <a:solidFill>
                  <a:srgbClr val="FF6B35"/>
                </a:solidFill>
                <a:latin typeface="Calibri" pitchFamily="34" charset="0"/>
                <a:ea typeface="Calibri" pitchFamily="34" charset="-122"/>
                <a:cs typeface="Calibri" pitchFamily="34" charset="-120"/>
              </a:rPr>
              <a:t>03</a:t>
            </a:r>
            <a:endParaRPr lang="en-US" sz="1800" dirty="0"/>
          </a:p>
        </p:txBody>
      </p:sp>
      <p:sp>
        <p:nvSpPr>
          <p:cNvPr id="18" name="Text 16"/>
          <p:cNvSpPr/>
          <p:nvPr/>
        </p:nvSpPr>
        <p:spPr>
          <a:xfrm>
            <a:off x="868680" y="3648456"/>
            <a:ext cx="3520440" cy="365760"/>
          </a:xfrm>
          <a:prstGeom prst="rect">
            <a:avLst/>
          </a:prstGeom>
          <a:noFill/>
          <a:ln/>
        </p:spPr>
        <p:txBody>
          <a:bodyPr wrap="square" rtlCol="0" anchor="t"/>
          <a:lstStyle/>
          <a:p>
            <a:pPr marL="0" indent="0">
              <a:buNone/>
            </a:pPr>
            <a:r>
              <a:rPr lang="en-US" sz="1300" b="1" dirty="0">
                <a:solidFill>
                  <a:srgbClr val="1F3864"/>
                </a:solidFill>
                <a:latin typeface="Calibri" pitchFamily="34" charset="0"/>
                <a:ea typeface="Calibri" pitchFamily="34" charset="-122"/>
                <a:cs typeface="Calibri" pitchFamily="34" charset="-120"/>
              </a:rPr>
              <a:t>Baseline Logistic Regression</a:t>
            </a:r>
            <a:endParaRPr lang="en-US" sz="1300" dirty="0"/>
          </a:p>
        </p:txBody>
      </p:sp>
      <p:sp>
        <p:nvSpPr>
          <p:cNvPr id="19" name="Text 17"/>
          <p:cNvSpPr/>
          <p:nvPr/>
        </p:nvSpPr>
        <p:spPr>
          <a:xfrm>
            <a:off x="868680" y="4014216"/>
            <a:ext cx="3520440" cy="594360"/>
          </a:xfrm>
          <a:prstGeom prst="rect">
            <a:avLst/>
          </a:prstGeom>
          <a:noFill/>
          <a:ln/>
        </p:spPr>
        <p:txBody>
          <a:bodyPr wrap="square" rtlCol="0" anchor="t"/>
          <a:lstStyle/>
          <a:p>
            <a:pPr marL="0" indent="0">
              <a:buNone/>
            </a:pPr>
            <a:r>
              <a:rPr lang="en-US" sz="1000" i="1" dirty="0">
                <a:solidFill>
                  <a:srgbClr val="64748B"/>
                </a:solidFill>
                <a:latin typeface="Calibri" pitchFamily="34" charset="0"/>
                <a:ea typeface="Calibri" pitchFamily="34" charset="-122"/>
                <a:cs typeface="Calibri" pitchFamily="34" charset="-120"/>
              </a:rPr>
              <a:t>Accuracy, F1-score, PR-AUC across all datasets</a:t>
            </a:r>
            <a:endParaRPr lang="en-US" sz="1000" dirty="0"/>
          </a:p>
        </p:txBody>
      </p:sp>
      <p:sp>
        <p:nvSpPr>
          <p:cNvPr id="20" name="Shape 18"/>
          <p:cNvSpPr/>
          <p:nvPr/>
        </p:nvSpPr>
        <p:spPr>
          <a:xfrm>
            <a:off x="4754880" y="868680"/>
            <a:ext cx="4206240" cy="1143000"/>
          </a:xfrm>
          <a:prstGeom prst="rect">
            <a:avLst/>
          </a:prstGeom>
          <a:solidFill>
            <a:srgbClr val="F1F5F9"/>
          </a:solidFill>
          <a:ln w="12700">
            <a:solidFill>
              <a:srgbClr val="CBD5E1"/>
            </a:solidFill>
            <a:prstDash val="solid"/>
          </a:ln>
          <a:effectLst>
            <a:outerShdw blurRad="63500" dist="25400" dir="8100000" algn="bl" rotWithShape="0">
              <a:srgbClr val="000000">
                <a:alpha val="12000"/>
              </a:srgbClr>
            </a:outerShdw>
          </a:effectLst>
        </p:spPr>
      </p:sp>
      <p:sp>
        <p:nvSpPr>
          <p:cNvPr id="21" name="Shape 19"/>
          <p:cNvSpPr/>
          <p:nvPr/>
        </p:nvSpPr>
        <p:spPr>
          <a:xfrm>
            <a:off x="4754880" y="868680"/>
            <a:ext cx="502920" cy="1143000"/>
          </a:xfrm>
          <a:prstGeom prst="rect">
            <a:avLst/>
          </a:prstGeom>
          <a:solidFill>
            <a:srgbClr val="1F3864"/>
          </a:solidFill>
          <a:ln w="12700">
            <a:solidFill>
              <a:srgbClr val="1F3864"/>
            </a:solidFill>
            <a:prstDash val="solid"/>
          </a:ln>
        </p:spPr>
      </p:sp>
      <p:sp>
        <p:nvSpPr>
          <p:cNvPr id="22" name="Text 20"/>
          <p:cNvSpPr/>
          <p:nvPr/>
        </p:nvSpPr>
        <p:spPr>
          <a:xfrm>
            <a:off x="4754880" y="868680"/>
            <a:ext cx="502920" cy="1143000"/>
          </a:xfrm>
          <a:prstGeom prst="rect">
            <a:avLst/>
          </a:prstGeom>
          <a:noFill/>
          <a:ln/>
        </p:spPr>
        <p:txBody>
          <a:bodyPr wrap="square" lIns="0" tIns="0" rIns="0" bIns="0" rtlCol="0" anchor="ctr"/>
          <a:lstStyle/>
          <a:p>
            <a:pPr marL="0" indent="0" algn="ctr">
              <a:buNone/>
            </a:pPr>
            <a:r>
              <a:rPr lang="en-US" sz="1800" b="1" dirty="0">
                <a:solidFill>
                  <a:srgbClr val="FF6B35"/>
                </a:solidFill>
                <a:latin typeface="Calibri" pitchFamily="34" charset="0"/>
                <a:ea typeface="Calibri" pitchFamily="34" charset="-122"/>
                <a:cs typeface="Calibri" pitchFamily="34" charset="-120"/>
              </a:rPr>
              <a:t>04</a:t>
            </a:r>
            <a:endParaRPr lang="en-US" sz="1800" dirty="0"/>
          </a:p>
        </p:txBody>
      </p:sp>
      <p:sp>
        <p:nvSpPr>
          <p:cNvPr id="23" name="Text 21"/>
          <p:cNvSpPr/>
          <p:nvPr/>
        </p:nvSpPr>
        <p:spPr>
          <a:xfrm>
            <a:off x="5349240" y="960120"/>
            <a:ext cx="3520440" cy="365760"/>
          </a:xfrm>
          <a:prstGeom prst="rect">
            <a:avLst/>
          </a:prstGeom>
          <a:noFill/>
          <a:ln/>
        </p:spPr>
        <p:txBody>
          <a:bodyPr wrap="square" rtlCol="0" anchor="t"/>
          <a:lstStyle/>
          <a:p>
            <a:pPr marL="0" indent="0">
              <a:buNone/>
            </a:pPr>
            <a:r>
              <a:rPr lang="en-US" sz="1300" b="1" dirty="0">
                <a:solidFill>
                  <a:srgbClr val="1F3864"/>
                </a:solidFill>
                <a:latin typeface="Calibri" pitchFamily="34" charset="0"/>
                <a:ea typeface="Calibri" pitchFamily="34" charset="-122"/>
                <a:cs typeface="Calibri" pitchFamily="34" charset="-120"/>
              </a:rPr>
              <a:t>Overfitting &amp; Underfitting</a:t>
            </a:r>
            <a:endParaRPr lang="en-US" sz="1300" dirty="0"/>
          </a:p>
        </p:txBody>
      </p:sp>
      <p:sp>
        <p:nvSpPr>
          <p:cNvPr id="24" name="Text 22"/>
          <p:cNvSpPr/>
          <p:nvPr/>
        </p:nvSpPr>
        <p:spPr>
          <a:xfrm>
            <a:off x="5349240" y="1325880"/>
            <a:ext cx="3520440" cy="594360"/>
          </a:xfrm>
          <a:prstGeom prst="rect">
            <a:avLst/>
          </a:prstGeom>
          <a:noFill/>
          <a:ln/>
        </p:spPr>
        <p:txBody>
          <a:bodyPr wrap="square" rtlCol="0" anchor="t"/>
          <a:lstStyle/>
          <a:p>
            <a:pPr marL="0" indent="0">
              <a:buNone/>
            </a:pPr>
            <a:r>
              <a:rPr lang="en-US" sz="1000" i="1" dirty="0">
                <a:solidFill>
                  <a:srgbClr val="64748B"/>
                </a:solidFill>
                <a:latin typeface="Calibri" pitchFamily="34" charset="0"/>
                <a:ea typeface="Calibri" pitchFamily="34" charset="-122"/>
                <a:cs typeface="Calibri" pitchFamily="34" charset="-120"/>
              </a:rPr>
              <a:t>Bias-variance trade-off, learning curves</a:t>
            </a:r>
            <a:endParaRPr lang="en-US" sz="1000" dirty="0"/>
          </a:p>
        </p:txBody>
      </p:sp>
      <p:sp>
        <p:nvSpPr>
          <p:cNvPr id="25" name="Shape 23"/>
          <p:cNvSpPr/>
          <p:nvPr/>
        </p:nvSpPr>
        <p:spPr>
          <a:xfrm>
            <a:off x="4754880" y="2212848"/>
            <a:ext cx="4206240" cy="1143000"/>
          </a:xfrm>
          <a:prstGeom prst="rect">
            <a:avLst/>
          </a:prstGeom>
          <a:solidFill>
            <a:srgbClr val="F1F5F9"/>
          </a:solidFill>
          <a:ln w="12700">
            <a:solidFill>
              <a:srgbClr val="CBD5E1"/>
            </a:solidFill>
            <a:prstDash val="solid"/>
          </a:ln>
          <a:effectLst>
            <a:outerShdw blurRad="63500" dist="25400" dir="8100000" algn="bl" rotWithShape="0">
              <a:srgbClr val="000000">
                <a:alpha val="12000"/>
              </a:srgbClr>
            </a:outerShdw>
          </a:effectLst>
        </p:spPr>
      </p:sp>
      <p:sp>
        <p:nvSpPr>
          <p:cNvPr id="26" name="Shape 24"/>
          <p:cNvSpPr/>
          <p:nvPr/>
        </p:nvSpPr>
        <p:spPr>
          <a:xfrm>
            <a:off x="4754880" y="2212848"/>
            <a:ext cx="502920" cy="1143000"/>
          </a:xfrm>
          <a:prstGeom prst="rect">
            <a:avLst/>
          </a:prstGeom>
          <a:solidFill>
            <a:srgbClr val="1F3864"/>
          </a:solidFill>
          <a:ln w="12700">
            <a:solidFill>
              <a:srgbClr val="1F3864"/>
            </a:solidFill>
            <a:prstDash val="solid"/>
          </a:ln>
        </p:spPr>
      </p:sp>
      <p:sp>
        <p:nvSpPr>
          <p:cNvPr id="27" name="Text 25"/>
          <p:cNvSpPr/>
          <p:nvPr/>
        </p:nvSpPr>
        <p:spPr>
          <a:xfrm>
            <a:off x="4754880" y="2212848"/>
            <a:ext cx="502920" cy="1143000"/>
          </a:xfrm>
          <a:prstGeom prst="rect">
            <a:avLst/>
          </a:prstGeom>
          <a:noFill/>
          <a:ln/>
        </p:spPr>
        <p:txBody>
          <a:bodyPr wrap="square" lIns="0" tIns="0" rIns="0" bIns="0" rtlCol="0" anchor="ctr"/>
          <a:lstStyle/>
          <a:p>
            <a:pPr marL="0" indent="0" algn="ctr">
              <a:buNone/>
            </a:pPr>
            <a:r>
              <a:rPr lang="en-US" sz="1800" b="1" dirty="0">
                <a:solidFill>
                  <a:srgbClr val="FF6B35"/>
                </a:solidFill>
                <a:latin typeface="Calibri" pitchFamily="34" charset="0"/>
                <a:ea typeface="Calibri" pitchFamily="34" charset="-122"/>
                <a:cs typeface="Calibri" pitchFamily="34" charset="-120"/>
              </a:rPr>
              <a:t>05</a:t>
            </a:r>
            <a:endParaRPr lang="en-US" sz="1800" dirty="0"/>
          </a:p>
        </p:txBody>
      </p:sp>
      <p:sp>
        <p:nvSpPr>
          <p:cNvPr id="28" name="Text 26"/>
          <p:cNvSpPr/>
          <p:nvPr/>
        </p:nvSpPr>
        <p:spPr>
          <a:xfrm>
            <a:off x="5349240" y="2304288"/>
            <a:ext cx="3520440" cy="365760"/>
          </a:xfrm>
          <a:prstGeom prst="rect">
            <a:avLst/>
          </a:prstGeom>
          <a:noFill/>
          <a:ln/>
        </p:spPr>
        <p:txBody>
          <a:bodyPr wrap="square" rtlCol="0" anchor="t"/>
          <a:lstStyle/>
          <a:p>
            <a:pPr marL="0" indent="0">
              <a:buNone/>
            </a:pPr>
            <a:r>
              <a:rPr lang="en-US" sz="1300" b="1" dirty="0">
                <a:solidFill>
                  <a:srgbClr val="1F3864"/>
                </a:solidFill>
                <a:latin typeface="Calibri" pitchFamily="34" charset="0"/>
                <a:ea typeface="Calibri" pitchFamily="34" charset="-122"/>
                <a:cs typeface="Calibri" pitchFamily="34" charset="-120"/>
              </a:rPr>
              <a:t>Regularisation Study</a:t>
            </a:r>
            <a:endParaRPr lang="en-US" sz="1300" dirty="0"/>
          </a:p>
        </p:txBody>
      </p:sp>
      <p:sp>
        <p:nvSpPr>
          <p:cNvPr id="29" name="Text 27"/>
          <p:cNvSpPr/>
          <p:nvPr/>
        </p:nvSpPr>
        <p:spPr>
          <a:xfrm>
            <a:off x="5349240" y="2670048"/>
            <a:ext cx="3520440" cy="594360"/>
          </a:xfrm>
          <a:prstGeom prst="rect">
            <a:avLst/>
          </a:prstGeom>
          <a:noFill/>
          <a:ln/>
        </p:spPr>
        <p:txBody>
          <a:bodyPr wrap="square" rtlCol="0" anchor="t"/>
          <a:lstStyle/>
          <a:p>
            <a:pPr marL="0" indent="0">
              <a:buNone/>
            </a:pPr>
            <a:r>
              <a:rPr lang="en-US" sz="1000" i="1" dirty="0">
                <a:solidFill>
                  <a:srgbClr val="64748B"/>
                </a:solidFill>
                <a:latin typeface="Calibri" pitchFamily="34" charset="0"/>
                <a:ea typeface="Calibri" pitchFamily="34" charset="-122"/>
                <a:cs typeface="Calibri" pitchFamily="34" charset="-120"/>
              </a:rPr>
              <a:t>L1 (Lasso) vs L2 (Ridge) vs Elastic Net</a:t>
            </a:r>
            <a:endParaRPr lang="en-US" sz="1000" dirty="0"/>
          </a:p>
        </p:txBody>
      </p:sp>
      <p:sp>
        <p:nvSpPr>
          <p:cNvPr id="30" name="Shape 28"/>
          <p:cNvSpPr/>
          <p:nvPr/>
        </p:nvSpPr>
        <p:spPr>
          <a:xfrm>
            <a:off x="4754880" y="3557016"/>
            <a:ext cx="4206240" cy="1143000"/>
          </a:xfrm>
          <a:prstGeom prst="rect">
            <a:avLst/>
          </a:prstGeom>
          <a:solidFill>
            <a:srgbClr val="F1F5F9"/>
          </a:solidFill>
          <a:ln w="12700">
            <a:solidFill>
              <a:srgbClr val="CBD5E1"/>
            </a:solidFill>
            <a:prstDash val="solid"/>
          </a:ln>
          <a:effectLst>
            <a:outerShdw blurRad="63500" dist="25400" dir="8100000" algn="bl" rotWithShape="0">
              <a:srgbClr val="000000">
                <a:alpha val="12000"/>
              </a:srgbClr>
            </a:outerShdw>
          </a:effectLst>
        </p:spPr>
      </p:sp>
      <p:sp>
        <p:nvSpPr>
          <p:cNvPr id="31" name="Shape 29"/>
          <p:cNvSpPr/>
          <p:nvPr/>
        </p:nvSpPr>
        <p:spPr>
          <a:xfrm>
            <a:off x="4754880" y="3557016"/>
            <a:ext cx="502920" cy="1143000"/>
          </a:xfrm>
          <a:prstGeom prst="rect">
            <a:avLst/>
          </a:prstGeom>
          <a:solidFill>
            <a:srgbClr val="1F3864"/>
          </a:solidFill>
          <a:ln w="12700">
            <a:solidFill>
              <a:srgbClr val="1F3864"/>
            </a:solidFill>
            <a:prstDash val="solid"/>
          </a:ln>
        </p:spPr>
      </p:sp>
      <p:sp>
        <p:nvSpPr>
          <p:cNvPr id="32" name="Text 30"/>
          <p:cNvSpPr/>
          <p:nvPr/>
        </p:nvSpPr>
        <p:spPr>
          <a:xfrm>
            <a:off x="4754880" y="3557016"/>
            <a:ext cx="502920" cy="1143000"/>
          </a:xfrm>
          <a:prstGeom prst="rect">
            <a:avLst/>
          </a:prstGeom>
          <a:noFill/>
          <a:ln/>
        </p:spPr>
        <p:txBody>
          <a:bodyPr wrap="square" lIns="0" tIns="0" rIns="0" bIns="0" rtlCol="0" anchor="ctr"/>
          <a:lstStyle/>
          <a:p>
            <a:pPr marL="0" indent="0" algn="ctr">
              <a:buNone/>
            </a:pPr>
            <a:r>
              <a:rPr lang="en-US" sz="1800" b="1" dirty="0">
                <a:solidFill>
                  <a:srgbClr val="FF6B35"/>
                </a:solidFill>
                <a:latin typeface="Calibri" pitchFamily="34" charset="0"/>
                <a:ea typeface="Calibri" pitchFamily="34" charset="-122"/>
                <a:cs typeface="Calibri" pitchFamily="34" charset="-120"/>
              </a:rPr>
              <a:t>06</a:t>
            </a:r>
            <a:endParaRPr lang="en-US" sz="1800" dirty="0"/>
          </a:p>
        </p:txBody>
      </p:sp>
      <p:sp>
        <p:nvSpPr>
          <p:cNvPr id="33" name="Text 31"/>
          <p:cNvSpPr/>
          <p:nvPr/>
        </p:nvSpPr>
        <p:spPr>
          <a:xfrm>
            <a:off x="5349240" y="3648456"/>
            <a:ext cx="3520440" cy="365760"/>
          </a:xfrm>
          <a:prstGeom prst="rect">
            <a:avLst/>
          </a:prstGeom>
          <a:noFill/>
          <a:ln/>
        </p:spPr>
        <p:txBody>
          <a:bodyPr wrap="square" rtlCol="0" anchor="t"/>
          <a:lstStyle/>
          <a:p>
            <a:pPr marL="0" indent="0">
              <a:buNone/>
            </a:pPr>
            <a:r>
              <a:rPr lang="en-US" sz="1300" b="1" dirty="0">
                <a:solidFill>
                  <a:srgbClr val="1F3864"/>
                </a:solidFill>
                <a:latin typeface="Calibri" pitchFamily="34" charset="0"/>
                <a:ea typeface="Calibri" pitchFamily="34" charset="-122"/>
                <a:cs typeface="Calibri" pitchFamily="34" charset="-120"/>
              </a:rPr>
              <a:t>Imbalance Handling &amp; Comparative Analysis</a:t>
            </a:r>
            <a:endParaRPr lang="en-US" sz="1300" dirty="0"/>
          </a:p>
        </p:txBody>
      </p:sp>
      <p:sp>
        <p:nvSpPr>
          <p:cNvPr id="34" name="Text 32"/>
          <p:cNvSpPr/>
          <p:nvPr/>
        </p:nvSpPr>
        <p:spPr>
          <a:xfrm>
            <a:off x="5349240" y="4014216"/>
            <a:ext cx="3520440" cy="594360"/>
          </a:xfrm>
          <a:prstGeom prst="rect">
            <a:avLst/>
          </a:prstGeom>
          <a:noFill/>
          <a:ln/>
        </p:spPr>
        <p:txBody>
          <a:bodyPr wrap="square" rtlCol="0" anchor="t"/>
          <a:lstStyle/>
          <a:p>
            <a:pPr marL="0" indent="0">
              <a:buNone/>
            </a:pPr>
            <a:r>
              <a:rPr lang="en-US" sz="1000" i="1" dirty="0">
                <a:solidFill>
                  <a:srgbClr val="64748B"/>
                </a:solidFill>
                <a:latin typeface="Calibri" pitchFamily="34" charset="0"/>
                <a:ea typeface="Calibri" pitchFamily="34" charset="-122"/>
                <a:cs typeface="Calibri" pitchFamily="34" charset="-120"/>
              </a:rPr>
              <a:t>SMOTE, undersampling, class weights, research questions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w="12700">
            <a:solidFill>
              <a:srgbClr val="1F3864"/>
            </a:solidFill>
            <a:prstDash val="solid"/>
          </a:ln>
        </p:spPr>
      </p:sp>
      <p:sp>
        <p:nvSpPr>
          <p:cNvPr id="3" name="Text 1"/>
          <p:cNvSpPr/>
          <p:nvPr/>
        </p:nvSpPr>
        <p:spPr>
          <a:xfrm>
            <a:off x="320040" y="36576"/>
            <a:ext cx="8503920" cy="61264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Why Seizure Prediction Matters</a:t>
            </a:r>
            <a:endParaRPr lang="en-US" sz="2200" dirty="0"/>
          </a:p>
        </p:txBody>
      </p:sp>
      <p:sp>
        <p:nvSpPr>
          <p:cNvPr id="4" name="Text 2"/>
          <p:cNvSpPr/>
          <p:nvPr/>
        </p:nvSpPr>
        <p:spPr>
          <a:xfrm>
            <a:off x="7772400" y="4892040"/>
            <a:ext cx="1188720" cy="201168"/>
          </a:xfrm>
          <a:prstGeom prst="rect">
            <a:avLst/>
          </a:prstGeom>
          <a:noFill/>
          <a:ln/>
        </p:spPr>
        <p:txBody>
          <a:bodyPr wrap="square" rtlCol="0" anchor="ctr"/>
          <a:lstStyle/>
          <a:p>
            <a:pPr marL="0" indent="0" algn="r">
              <a:buNone/>
            </a:pPr>
            <a:endParaRPr lang="en-US" sz="900" dirty="0"/>
          </a:p>
        </p:txBody>
      </p:sp>
      <p:sp>
        <p:nvSpPr>
          <p:cNvPr id="5" name="Shape 3"/>
          <p:cNvSpPr/>
          <p:nvPr/>
        </p:nvSpPr>
        <p:spPr>
          <a:xfrm>
            <a:off x="274320" y="822960"/>
            <a:ext cx="4389120" cy="3200400"/>
          </a:xfrm>
          <a:prstGeom prst="rect">
            <a:avLst/>
          </a:prstGeom>
          <a:solidFill>
            <a:srgbClr val="F1F5F9"/>
          </a:solidFill>
          <a:ln w="12700">
            <a:solidFill>
              <a:srgbClr val="CBD5E1"/>
            </a:solidFill>
            <a:prstDash val="solid"/>
          </a:ln>
          <a:effectLst>
            <a:outerShdw blurRad="63500" dist="25400" dir="8100000" algn="bl" rotWithShape="0">
              <a:srgbClr val="000000">
                <a:alpha val="12000"/>
              </a:srgbClr>
            </a:outerShdw>
          </a:effectLst>
        </p:spPr>
      </p:sp>
      <p:sp>
        <p:nvSpPr>
          <p:cNvPr id="6" name="Text 4"/>
          <p:cNvSpPr/>
          <p:nvPr/>
        </p:nvSpPr>
        <p:spPr>
          <a:xfrm>
            <a:off x="365760" y="868680"/>
            <a:ext cx="4206240" cy="320040"/>
          </a:xfrm>
          <a:prstGeom prst="rect">
            <a:avLst/>
          </a:prstGeom>
          <a:noFill/>
          <a:ln/>
        </p:spPr>
        <p:txBody>
          <a:bodyPr wrap="square"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Context &amp; Challenge</a:t>
            </a:r>
            <a:endParaRPr lang="en-US" sz="1300" dirty="0"/>
          </a:p>
        </p:txBody>
      </p:sp>
      <p:sp>
        <p:nvSpPr>
          <p:cNvPr id="7" name="Text 5"/>
          <p:cNvSpPr/>
          <p:nvPr/>
        </p:nvSpPr>
        <p:spPr>
          <a:xfrm>
            <a:off x="365760" y="1234440"/>
            <a:ext cx="4160520" cy="2651760"/>
          </a:xfrm>
          <a:prstGeom prst="rect">
            <a:avLst/>
          </a:prstGeom>
          <a:noFill/>
          <a:ln/>
        </p:spPr>
        <p:txBody>
          <a:bodyPr wrap="square" rtlCol="0" anchor="ctr"/>
          <a:lstStyle/>
          <a:p>
            <a:pPr marL="342900" indent="-342900">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50 million people affected by epilepsy worldwide</a:t>
            </a:r>
            <a:endParaRPr lang="en-US" sz="1200" dirty="0"/>
          </a:p>
          <a:p>
            <a:pPr marL="342900" indent="-342900">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EEG-based seizure detection is critical for clinical care</a:t>
            </a:r>
            <a:endParaRPr lang="en-US" sz="1200" dirty="0"/>
          </a:p>
          <a:p>
            <a:pPr marL="342900" indent="-342900">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Challenge: raw EEG signals are noisy, high-dimensional, imbalanced</a:t>
            </a:r>
            <a:endParaRPr lang="en-US" sz="1200" dirty="0"/>
          </a:p>
          <a:p>
            <a:pPr marL="342900" indent="-342900">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Goal: Apply logistic regression with optimal preprocessing &amp; regularization</a:t>
            </a:r>
            <a:endParaRPr lang="en-US" sz="1200" dirty="0"/>
          </a:p>
        </p:txBody>
      </p:sp>
      <p:sp>
        <p:nvSpPr>
          <p:cNvPr id="8" name="Shape 6"/>
          <p:cNvSpPr/>
          <p:nvPr/>
        </p:nvSpPr>
        <p:spPr>
          <a:xfrm>
            <a:off x="4937760" y="822960"/>
            <a:ext cx="3931920" cy="3200400"/>
          </a:xfrm>
          <a:prstGeom prst="rect">
            <a:avLst/>
          </a:prstGeom>
          <a:solidFill>
            <a:srgbClr val="1F3864"/>
          </a:solidFill>
          <a:ln w="12700">
            <a:solidFill>
              <a:srgbClr val="1F3864"/>
            </a:solidFill>
            <a:prstDash val="solid"/>
          </a:ln>
          <a:effectLst>
            <a:outerShdw blurRad="63500" dist="25400" dir="8100000" algn="bl" rotWithShape="0">
              <a:srgbClr val="000000">
                <a:alpha val="12000"/>
              </a:srgbClr>
            </a:outerShdw>
          </a:effectLst>
        </p:spPr>
      </p:sp>
      <p:sp>
        <p:nvSpPr>
          <p:cNvPr id="9" name="Text 7"/>
          <p:cNvSpPr/>
          <p:nvPr/>
        </p:nvSpPr>
        <p:spPr>
          <a:xfrm>
            <a:off x="5029200" y="886968"/>
            <a:ext cx="3749040" cy="347472"/>
          </a:xfrm>
          <a:prstGeom prst="rect">
            <a:avLst/>
          </a:prstGeom>
          <a:noFill/>
          <a:ln/>
        </p:spPr>
        <p:txBody>
          <a:bodyPr wrap="square" rtlCol="0" anchor="ctr"/>
          <a:lstStyle/>
          <a:p>
            <a:pPr marL="0" indent="0">
              <a:buNone/>
            </a:pPr>
            <a:r>
              <a:rPr lang="en-US" sz="1300" b="1" dirty="0">
                <a:solidFill>
                  <a:srgbClr val="FF6B35"/>
                </a:solidFill>
                <a:latin typeface="Calibri" pitchFamily="34" charset="0"/>
                <a:ea typeface="Calibri" pitchFamily="34" charset="-122"/>
                <a:cs typeface="Calibri" pitchFamily="34" charset="-120"/>
              </a:rPr>
              <a:t>Key Research Questions</a:t>
            </a:r>
            <a:endParaRPr lang="en-US" sz="1300" dirty="0"/>
          </a:p>
        </p:txBody>
      </p:sp>
      <p:sp>
        <p:nvSpPr>
          <p:cNvPr id="10" name="Shape 8"/>
          <p:cNvSpPr/>
          <p:nvPr/>
        </p:nvSpPr>
        <p:spPr>
          <a:xfrm>
            <a:off x="5120640" y="1353312"/>
            <a:ext cx="365760" cy="365760"/>
          </a:xfrm>
          <a:prstGeom prst="ellipse">
            <a:avLst/>
          </a:prstGeom>
          <a:solidFill>
            <a:srgbClr val="FF6B35"/>
          </a:solidFill>
          <a:ln w="12700">
            <a:solidFill>
              <a:srgbClr val="FF6B35"/>
            </a:solidFill>
            <a:prstDash val="solid"/>
          </a:ln>
        </p:spPr>
      </p:sp>
      <p:sp>
        <p:nvSpPr>
          <p:cNvPr id="11" name="Text 9"/>
          <p:cNvSpPr/>
          <p:nvPr/>
        </p:nvSpPr>
        <p:spPr>
          <a:xfrm>
            <a:off x="5120640" y="1353312"/>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5577840" y="1353312"/>
            <a:ext cx="3200400" cy="41148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Does preprocessing ORDER affect performance?</a:t>
            </a:r>
            <a:endParaRPr lang="en-US" sz="1100" dirty="0"/>
          </a:p>
        </p:txBody>
      </p:sp>
      <p:sp>
        <p:nvSpPr>
          <p:cNvPr id="13" name="Shape 11"/>
          <p:cNvSpPr/>
          <p:nvPr/>
        </p:nvSpPr>
        <p:spPr>
          <a:xfrm>
            <a:off x="5120640" y="1993392"/>
            <a:ext cx="365760" cy="365760"/>
          </a:xfrm>
          <a:prstGeom prst="ellipse">
            <a:avLst/>
          </a:prstGeom>
          <a:solidFill>
            <a:srgbClr val="FF6B35"/>
          </a:solidFill>
          <a:ln w="12700">
            <a:solidFill>
              <a:srgbClr val="FF6B35"/>
            </a:solidFill>
            <a:prstDash val="solid"/>
          </a:ln>
        </p:spPr>
      </p:sp>
      <p:sp>
        <p:nvSpPr>
          <p:cNvPr id="14" name="Text 12"/>
          <p:cNvSpPr/>
          <p:nvPr/>
        </p:nvSpPr>
        <p:spPr>
          <a:xfrm>
            <a:off x="5120640" y="1993392"/>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5577840" y="1993392"/>
            <a:ext cx="3200400" cy="41148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Which regularization generalizes best?</a:t>
            </a:r>
            <a:endParaRPr lang="en-US" sz="1100" dirty="0"/>
          </a:p>
        </p:txBody>
      </p:sp>
      <p:sp>
        <p:nvSpPr>
          <p:cNvPr id="16" name="Shape 14"/>
          <p:cNvSpPr/>
          <p:nvPr/>
        </p:nvSpPr>
        <p:spPr>
          <a:xfrm>
            <a:off x="5120640" y="2633472"/>
            <a:ext cx="365760" cy="365760"/>
          </a:xfrm>
          <a:prstGeom prst="ellipse">
            <a:avLst/>
          </a:prstGeom>
          <a:solidFill>
            <a:srgbClr val="FF6B35"/>
          </a:solidFill>
          <a:ln w="12700">
            <a:solidFill>
              <a:srgbClr val="FF6B35"/>
            </a:solidFill>
            <a:prstDash val="solid"/>
          </a:ln>
        </p:spPr>
      </p:sp>
      <p:sp>
        <p:nvSpPr>
          <p:cNvPr id="17" name="Text 15"/>
          <p:cNvSpPr/>
          <p:nvPr/>
        </p:nvSpPr>
        <p:spPr>
          <a:xfrm>
            <a:off x="5120640" y="2633472"/>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5577840" y="2633472"/>
            <a:ext cx="3200400" cy="41148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Does Elastic Net outperform L1/L2?</a:t>
            </a:r>
            <a:endParaRPr lang="en-US" sz="1100" dirty="0"/>
          </a:p>
        </p:txBody>
      </p:sp>
      <p:sp>
        <p:nvSpPr>
          <p:cNvPr id="19" name="Shape 17"/>
          <p:cNvSpPr/>
          <p:nvPr/>
        </p:nvSpPr>
        <p:spPr>
          <a:xfrm>
            <a:off x="5120640" y="3273552"/>
            <a:ext cx="365760" cy="365760"/>
          </a:xfrm>
          <a:prstGeom prst="ellipse">
            <a:avLst/>
          </a:prstGeom>
          <a:solidFill>
            <a:srgbClr val="FF6B35"/>
          </a:solidFill>
          <a:ln w="12700">
            <a:solidFill>
              <a:srgbClr val="FF6B35"/>
            </a:solidFill>
            <a:prstDash val="solid"/>
          </a:ln>
        </p:spPr>
      </p:sp>
      <p:sp>
        <p:nvSpPr>
          <p:cNvPr id="20" name="Text 18"/>
          <p:cNvSpPr/>
          <p:nvPr/>
        </p:nvSpPr>
        <p:spPr>
          <a:xfrm>
            <a:off x="5120640" y="3273552"/>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5577840" y="3273552"/>
            <a:ext cx="3200400" cy="41148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How does imbalance handling interact with regularization?</a:t>
            </a:r>
            <a:endParaRPr lang="en-US" sz="1100" dirty="0"/>
          </a:p>
        </p:txBody>
      </p:sp>
      <p:sp>
        <p:nvSpPr>
          <p:cNvPr id="22" name="Text 20"/>
          <p:cNvSpPr/>
          <p:nvPr/>
        </p:nvSpPr>
        <p:spPr>
          <a:xfrm>
            <a:off x="274320" y="4846320"/>
            <a:ext cx="8595360" cy="182880"/>
          </a:xfrm>
          <a:prstGeom prst="rect">
            <a:avLst/>
          </a:prstGeom>
          <a:noFill/>
          <a:ln/>
        </p:spPr>
        <p:txBody>
          <a:bodyPr wrap="square" rtlCol="0" anchor="ctr"/>
          <a:lstStyle/>
          <a:p>
            <a:pPr marL="0" indent="0">
              <a:buNone/>
            </a:pP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w="12700">
            <a:solidFill>
              <a:srgbClr val="1F3864"/>
            </a:solidFill>
            <a:prstDash val="solid"/>
          </a:ln>
        </p:spPr>
      </p:sp>
      <p:sp>
        <p:nvSpPr>
          <p:cNvPr id="3" name="Text 1"/>
          <p:cNvSpPr/>
          <p:nvPr/>
        </p:nvSpPr>
        <p:spPr>
          <a:xfrm>
            <a:off x="320040" y="36576"/>
            <a:ext cx="8503920" cy="61264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EEG Dataset</a:t>
            </a:r>
            <a:endParaRPr lang="en-US" sz="2200" dirty="0"/>
          </a:p>
        </p:txBody>
      </p:sp>
      <p:sp>
        <p:nvSpPr>
          <p:cNvPr id="4" name="Text 2"/>
          <p:cNvSpPr/>
          <p:nvPr/>
        </p:nvSpPr>
        <p:spPr>
          <a:xfrm>
            <a:off x="7772400" y="4892040"/>
            <a:ext cx="1188720" cy="201168"/>
          </a:xfrm>
          <a:prstGeom prst="rect">
            <a:avLst/>
          </a:prstGeom>
          <a:noFill/>
          <a:ln/>
        </p:spPr>
        <p:txBody>
          <a:bodyPr wrap="square" rtlCol="0" anchor="ctr"/>
          <a:lstStyle/>
          <a:p>
            <a:pPr marL="0" indent="0" algn="r">
              <a:buNone/>
            </a:pP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1137920"/>
        </p:xfrm>
        <a:graphic>
          <a:graphicData uri="http://schemas.openxmlformats.org/drawingml/2006/table">
            <a:tbl>
              <a:tblPr/>
              <a:tblGrid>
                <a:gridCol w="9144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4480560">
                  <a:extLst>
                    <a:ext uri="{9D8B030D-6E8A-4147-A177-3AD203B41FA5}">
                      <a16:colId xmlns:a16="http://schemas.microsoft.com/office/drawing/2014/main" val="20004"/>
                    </a:ext>
                  </a:extLst>
                </a:gridCol>
              </a:tblGrid>
              <a:tr h="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Classes</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Samples</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Ratio</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D1</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Z vs S</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3,000</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Healthy vs Seizure (balanced)</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extLst>
                  <a:ext uri="{0D108BD9-81ED-4DB2-BD59-A6C34878D82A}">
                    <a16:rowId xmlns:a16="http://schemas.microsoft.com/office/drawing/2014/main" val="10001"/>
                  </a:ext>
                </a:extLst>
              </a:tr>
              <a:tr h="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D2</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N+F vs S</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4,500</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Epileptic non-ictal vs Seizure</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D3</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All vs S</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7,500</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4:1</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All classes vs Seizure (imbalanced)</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extLst>
                  <a:ext uri="{0D108BD9-81ED-4DB2-BD59-A6C34878D82A}">
                    <a16:rowId xmlns:a16="http://schemas.microsoft.com/office/drawing/2014/main" val="10003"/>
                  </a:ext>
                </a:extLst>
              </a:tr>
            </a:tbl>
          </a:graphicData>
        </a:graphic>
      </p:graphicFrame>
      <p:sp>
        <p:nvSpPr>
          <p:cNvPr id="6" name="Shape 3"/>
          <p:cNvSpPr/>
          <p:nvPr/>
        </p:nvSpPr>
        <p:spPr>
          <a:xfrm>
            <a:off x="274320" y="2697480"/>
            <a:ext cx="2743200" cy="1645920"/>
          </a:xfrm>
          <a:prstGeom prst="rect">
            <a:avLst/>
          </a:prstGeom>
          <a:solidFill>
            <a:srgbClr val="F1F5F9"/>
          </a:solidFill>
          <a:ln w="12700">
            <a:solidFill>
              <a:srgbClr val="CBD5E1"/>
            </a:solidFill>
            <a:prstDash val="solid"/>
          </a:ln>
          <a:effectLst>
            <a:outerShdw blurRad="63500" dist="25400" dir="8100000" algn="bl" rotWithShape="0">
              <a:srgbClr val="000000">
                <a:alpha val="12000"/>
              </a:srgbClr>
            </a:outerShdw>
          </a:effectLst>
        </p:spPr>
      </p:sp>
      <p:sp>
        <p:nvSpPr>
          <p:cNvPr id="7" name="Shape 4"/>
          <p:cNvSpPr/>
          <p:nvPr/>
        </p:nvSpPr>
        <p:spPr>
          <a:xfrm>
            <a:off x="274320" y="2697480"/>
            <a:ext cx="2743200" cy="320040"/>
          </a:xfrm>
          <a:prstGeom prst="rect">
            <a:avLst/>
          </a:prstGeom>
          <a:solidFill>
            <a:srgbClr val="1F3864"/>
          </a:solidFill>
          <a:ln w="12700">
            <a:solidFill>
              <a:srgbClr val="1F3864"/>
            </a:solidFill>
            <a:prstDash val="solid"/>
          </a:ln>
        </p:spPr>
      </p:sp>
      <p:sp>
        <p:nvSpPr>
          <p:cNvPr id="8" name="Text 5"/>
          <p:cNvSpPr/>
          <p:nvPr/>
        </p:nvSpPr>
        <p:spPr>
          <a:xfrm>
            <a:off x="320040" y="2697480"/>
            <a:ext cx="265176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5 EEG Classes</a:t>
            </a:r>
            <a:endParaRPr lang="en-US" sz="1100" dirty="0"/>
          </a:p>
        </p:txBody>
      </p:sp>
      <p:sp>
        <p:nvSpPr>
          <p:cNvPr id="9" name="Text 6"/>
          <p:cNvSpPr/>
          <p:nvPr/>
        </p:nvSpPr>
        <p:spPr>
          <a:xfrm>
            <a:off x="347472" y="3063240"/>
            <a:ext cx="2606040" cy="1234440"/>
          </a:xfrm>
          <a:prstGeom prst="rect">
            <a:avLst/>
          </a:prstGeom>
          <a:noFill/>
          <a:ln/>
        </p:spPr>
        <p:txBody>
          <a:bodyPr wrap="square" rtlCol="0" anchor="t"/>
          <a:lstStyle/>
          <a:p>
            <a:pPr marL="0" indent="0">
              <a:buNone/>
            </a:pPr>
            <a:r>
              <a:rPr lang="en-US" sz="1000" dirty="0">
                <a:solidFill>
                  <a:srgbClr val="1E293B"/>
                </a:solidFill>
                <a:latin typeface="Calibri" pitchFamily="34" charset="0"/>
                <a:ea typeface="Calibri" pitchFamily="34" charset="-122"/>
                <a:cs typeface="Calibri" pitchFamily="34" charset="-120"/>
              </a:rPr>
              <a:t>Z: healthy (open), O: healthy (closed), N: epileptic non-focal,</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F: epileptic focal, S: seizure (ictal)</a:t>
            </a:r>
            <a:endParaRPr lang="en-US" sz="1000" dirty="0"/>
          </a:p>
        </p:txBody>
      </p:sp>
      <p:sp>
        <p:nvSpPr>
          <p:cNvPr id="10" name="Shape 7"/>
          <p:cNvSpPr/>
          <p:nvPr/>
        </p:nvSpPr>
        <p:spPr>
          <a:xfrm>
            <a:off x="3154680" y="2697480"/>
            <a:ext cx="2743200" cy="1645920"/>
          </a:xfrm>
          <a:prstGeom prst="rect">
            <a:avLst/>
          </a:prstGeom>
          <a:solidFill>
            <a:srgbClr val="F1F5F9"/>
          </a:solidFill>
          <a:ln w="12700">
            <a:solidFill>
              <a:srgbClr val="CBD5E1"/>
            </a:solidFill>
            <a:prstDash val="solid"/>
          </a:ln>
          <a:effectLst>
            <a:outerShdw blurRad="63500" dist="25400" dir="8100000" algn="bl" rotWithShape="0">
              <a:srgbClr val="000000">
                <a:alpha val="12000"/>
              </a:srgbClr>
            </a:outerShdw>
          </a:effectLst>
        </p:spPr>
      </p:sp>
      <p:sp>
        <p:nvSpPr>
          <p:cNvPr id="11" name="Shape 8"/>
          <p:cNvSpPr/>
          <p:nvPr/>
        </p:nvSpPr>
        <p:spPr>
          <a:xfrm>
            <a:off x="3154680" y="2697480"/>
            <a:ext cx="2743200" cy="320040"/>
          </a:xfrm>
          <a:prstGeom prst="rect">
            <a:avLst/>
          </a:prstGeom>
          <a:solidFill>
            <a:srgbClr val="1F3864"/>
          </a:solidFill>
          <a:ln w="12700">
            <a:solidFill>
              <a:srgbClr val="1F3864"/>
            </a:solidFill>
            <a:prstDash val="solid"/>
          </a:ln>
        </p:spPr>
      </p:sp>
      <p:sp>
        <p:nvSpPr>
          <p:cNvPr id="12" name="Text 9"/>
          <p:cNvSpPr/>
          <p:nvPr/>
        </p:nvSpPr>
        <p:spPr>
          <a:xfrm>
            <a:off x="3200400" y="2697480"/>
            <a:ext cx="265176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Features</a:t>
            </a:r>
            <a:endParaRPr lang="en-US" sz="1100" dirty="0"/>
          </a:p>
        </p:txBody>
      </p:sp>
      <p:sp>
        <p:nvSpPr>
          <p:cNvPr id="13" name="Text 10"/>
          <p:cNvSpPr/>
          <p:nvPr/>
        </p:nvSpPr>
        <p:spPr>
          <a:xfrm>
            <a:off x="3227832" y="3063240"/>
            <a:ext cx="2606040" cy="1234440"/>
          </a:xfrm>
          <a:prstGeom prst="rect">
            <a:avLst/>
          </a:prstGeom>
          <a:noFill/>
          <a:ln/>
        </p:spPr>
        <p:txBody>
          <a:bodyPr wrap="square" rtlCol="0" anchor="t"/>
          <a:lstStyle/>
          <a:p>
            <a:pPr marL="0" indent="0">
              <a:buNone/>
            </a:pPr>
            <a:r>
              <a:rPr lang="en-US" sz="1000" dirty="0">
                <a:solidFill>
                  <a:srgbClr val="1E293B"/>
                </a:solidFill>
                <a:latin typeface="Calibri" pitchFamily="34" charset="0"/>
                <a:ea typeface="Calibri" pitchFamily="34" charset="-122"/>
                <a:cs typeface="Calibri" pitchFamily="34" charset="-120"/>
              </a:rPr>
              <a:t>512 time-domain samples per segment @ 173.6 Hz — pre-processed with CWT filtering</a:t>
            </a:r>
            <a:endParaRPr lang="en-US" sz="1000" dirty="0"/>
          </a:p>
        </p:txBody>
      </p:sp>
      <p:sp>
        <p:nvSpPr>
          <p:cNvPr id="14" name="Shape 11"/>
          <p:cNvSpPr/>
          <p:nvPr/>
        </p:nvSpPr>
        <p:spPr>
          <a:xfrm>
            <a:off x="6035040" y="2697480"/>
            <a:ext cx="2743200" cy="1645920"/>
          </a:xfrm>
          <a:prstGeom prst="rect">
            <a:avLst/>
          </a:prstGeom>
          <a:solidFill>
            <a:srgbClr val="FFF3EE"/>
          </a:solidFill>
          <a:ln w="12700">
            <a:solidFill>
              <a:srgbClr val="FF6B35"/>
            </a:solidFill>
            <a:prstDash val="solid"/>
          </a:ln>
          <a:effectLst>
            <a:outerShdw blurRad="63500" dist="25400" dir="8100000" algn="bl" rotWithShape="0">
              <a:srgbClr val="000000">
                <a:alpha val="12000"/>
              </a:srgbClr>
            </a:outerShdw>
          </a:effectLst>
        </p:spPr>
      </p:sp>
      <p:sp>
        <p:nvSpPr>
          <p:cNvPr id="15" name="Shape 12"/>
          <p:cNvSpPr/>
          <p:nvPr/>
        </p:nvSpPr>
        <p:spPr>
          <a:xfrm>
            <a:off x="6035040" y="2697480"/>
            <a:ext cx="2743200" cy="320040"/>
          </a:xfrm>
          <a:prstGeom prst="rect">
            <a:avLst/>
          </a:prstGeom>
          <a:solidFill>
            <a:srgbClr val="FF6B35"/>
          </a:solidFill>
          <a:ln w="12700">
            <a:solidFill>
              <a:srgbClr val="1F3864"/>
            </a:solidFill>
            <a:prstDash val="solid"/>
          </a:ln>
        </p:spPr>
      </p:sp>
      <p:sp>
        <p:nvSpPr>
          <p:cNvPr id="16" name="Text 13"/>
          <p:cNvSpPr/>
          <p:nvPr/>
        </p:nvSpPr>
        <p:spPr>
          <a:xfrm>
            <a:off x="6080760" y="2697480"/>
            <a:ext cx="265176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Seizure Class</a:t>
            </a:r>
            <a:endParaRPr lang="en-US" sz="1100" dirty="0"/>
          </a:p>
        </p:txBody>
      </p:sp>
      <p:sp>
        <p:nvSpPr>
          <p:cNvPr id="17" name="Text 14"/>
          <p:cNvSpPr/>
          <p:nvPr/>
        </p:nvSpPr>
        <p:spPr>
          <a:xfrm>
            <a:off x="6108192" y="3063240"/>
            <a:ext cx="2606040" cy="1234440"/>
          </a:xfrm>
          <a:prstGeom prst="rect">
            <a:avLst/>
          </a:prstGeom>
          <a:noFill/>
          <a:ln/>
        </p:spPr>
        <p:txBody>
          <a:bodyPr wrap="square" rtlCol="0" anchor="t"/>
          <a:lstStyle/>
          <a:p>
            <a:pPr marL="0" indent="0">
              <a:buNone/>
            </a:pPr>
            <a:r>
              <a:rPr lang="en-US" sz="1000" dirty="0">
                <a:solidFill>
                  <a:srgbClr val="1E293B"/>
                </a:solidFill>
                <a:latin typeface="Calibri" pitchFamily="34" charset="0"/>
                <a:ea typeface="Calibri" pitchFamily="34" charset="-122"/>
                <a:cs typeface="Calibri" pitchFamily="34" charset="-120"/>
              </a:rPr>
              <a:t>S: std = 341.4 uV — 7x higher than healthy class Z (48.2 uV)</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w="12700">
            <a:solidFill>
              <a:srgbClr val="1F3864"/>
            </a:solidFill>
            <a:prstDash val="solid"/>
          </a:ln>
        </p:spPr>
      </p:sp>
      <p:sp>
        <p:nvSpPr>
          <p:cNvPr id="3" name="Text 1"/>
          <p:cNvSpPr/>
          <p:nvPr/>
        </p:nvSpPr>
        <p:spPr>
          <a:xfrm>
            <a:off x="320040" y="36576"/>
            <a:ext cx="8503920" cy="61264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Two Preprocessing Strategies</a:t>
            </a:r>
            <a:endParaRPr lang="en-US" sz="2200" dirty="0"/>
          </a:p>
        </p:txBody>
      </p:sp>
      <p:sp>
        <p:nvSpPr>
          <p:cNvPr id="4" name="Text 2"/>
          <p:cNvSpPr/>
          <p:nvPr/>
        </p:nvSpPr>
        <p:spPr>
          <a:xfrm>
            <a:off x="7772400" y="4892040"/>
            <a:ext cx="1188720" cy="201168"/>
          </a:xfrm>
          <a:prstGeom prst="rect">
            <a:avLst/>
          </a:prstGeom>
          <a:noFill/>
          <a:ln/>
        </p:spPr>
        <p:txBody>
          <a:bodyPr wrap="square" rtlCol="0" anchor="ctr"/>
          <a:lstStyle/>
          <a:p>
            <a:pPr marL="0" indent="0" algn="r">
              <a:buNone/>
            </a:pPr>
            <a:endParaRPr lang="en-US" sz="900" dirty="0"/>
          </a:p>
        </p:txBody>
      </p:sp>
      <p:sp>
        <p:nvSpPr>
          <p:cNvPr id="5" name="Shape 3"/>
          <p:cNvSpPr/>
          <p:nvPr/>
        </p:nvSpPr>
        <p:spPr>
          <a:xfrm>
            <a:off x="228600" y="777240"/>
            <a:ext cx="4114800" cy="384048"/>
          </a:xfrm>
          <a:prstGeom prst="rect">
            <a:avLst/>
          </a:prstGeom>
          <a:solidFill>
            <a:srgbClr val="1F3864"/>
          </a:solidFill>
          <a:ln w="12700">
            <a:solidFill>
              <a:srgbClr val="1F3864"/>
            </a:solidFill>
            <a:prstDash val="solid"/>
          </a:ln>
        </p:spPr>
      </p:sp>
      <p:sp>
        <p:nvSpPr>
          <p:cNvPr id="6" name="Text 4"/>
          <p:cNvSpPr/>
          <p:nvPr/>
        </p:nvSpPr>
        <p:spPr>
          <a:xfrm>
            <a:off x="228600" y="777240"/>
            <a:ext cx="411480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Pipeline A — Raw Signal</a:t>
            </a:r>
            <a:endParaRPr lang="en-US" sz="1400" dirty="0"/>
          </a:p>
        </p:txBody>
      </p:sp>
      <p:sp>
        <p:nvSpPr>
          <p:cNvPr id="7" name="Shape 5"/>
          <p:cNvSpPr/>
          <p:nvPr/>
        </p:nvSpPr>
        <p:spPr>
          <a:xfrm>
            <a:off x="365760" y="1261872"/>
            <a:ext cx="3840480" cy="713232"/>
          </a:xfrm>
          <a:prstGeom prst="roundRect">
            <a:avLst>
              <a:gd name="adj" fmla="val 6410"/>
            </a:avLst>
          </a:prstGeom>
          <a:solidFill>
            <a:srgbClr val="F1F5F9"/>
          </a:solidFill>
          <a:ln w="19050">
            <a:solidFill>
              <a:srgbClr val="1F3864"/>
            </a:solidFill>
            <a:prstDash val="solid"/>
          </a:ln>
        </p:spPr>
      </p:sp>
      <p:sp>
        <p:nvSpPr>
          <p:cNvPr id="8" name="Shape 6"/>
          <p:cNvSpPr/>
          <p:nvPr/>
        </p:nvSpPr>
        <p:spPr>
          <a:xfrm>
            <a:off x="411480" y="1417320"/>
            <a:ext cx="384048" cy="384048"/>
          </a:xfrm>
          <a:prstGeom prst="ellipse">
            <a:avLst/>
          </a:prstGeom>
          <a:solidFill>
            <a:srgbClr val="1F3864"/>
          </a:solidFill>
          <a:ln w="12700">
            <a:solidFill>
              <a:srgbClr val="1F3864"/>
            </a:solidFill>
            <a:prstDash val="solid"/>
          </a:ln>
        </p:spPr>
      </p:sp>
      <p:sp>
        <p:nvSpPr>
          <p:cNvPr id="9" name="Text 7"/>
          <p:cNvSpPr/>
          <p:nvPr/>
        </p:nvSpPr>
        <p:spPr>
          <a:xfrm>
            <a:off x="411480" y="14173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886968" y="1298448"/>
            <a:ext cx="3246120" cy="320040"/>
          </a:xfrm>
          <a:prstGeom prst="rect">
            <a:avLst/>
          </a:prstGeom>
          <a:noFill/>
          <a:ln/>
        </p:spPr>
        <p:txBody>
          <a:bodyPr wrap="square" rtlCol="0" anchor="t"/>
          <a:lstStyle/>
          <a:p>
            <a:pPr marL="0" indent="0">
              <a:buNone/>
            </a:pPr>
            <a:r>
              <a:rPr lang="en-US" sz="1200" b="1" dirty="0">
                <a:solidFill>
                  <a:srgbClr val="1F3864"/>
                </a:solidFill>
                <a:latin typeface="Calibri" pitchFamily="34" charset="0"/>
                <a:ea typeface="Calibri" pitchFamily="34" charset="-122"/>
                <a:cs typeface="Calibri" pitchFamily="34" charset="-120"/>
              </a:rPr>
              <a:t>StandardScaler</a:t>
            </a:r>
            <a:endParaRPr lang="en-US" sz="1200" dirty="0"/>
          </a:p>
        </p:txBody>
      </p:sp>
      <p:sp>
        <p:nvSpPr>
          <p:cNvPr id="11" name="Text 9"/>
          <p:cNvSpPr/>
          <p:nvPr/>
        </p:nvSpPr>
        <p:spPr>
          <a:xfrm>
            <a:off x="886968" y="1600200"/>
            <a:ext cx="3246120" cy="320040"/>
          </a:xfrm>
          <a:prstGeom prst="rect">
            <a:avLst/>
          </a:prstGeom>
          <a:noFill/>
          <a:ln/>
        </p:spPr>
        <p:txBody>
          <a:bodyPr wrap="square" rtlCol="0" anchor="t"/>
          <a:lstStyle/>
          <a:p>
            <a:pPr marL="0" indent="0">
              <a:buNone/>
            </a:pPr>
            <a:r>
              <a:rPr lang="en-US" sz="900" i="1" dirty="0">
                <a:solidFill>
                  <a:srgbClr val="64748B"/>
                </a:solidFill>
                <a:latin typeface="Calibri" pitchFamily="34" charset="0"/>
                <a:ea typeface="Calibri" pitchFamily="34" charset="-122"/>
                <a:cs typeface="Calibri" pitchFamily="34" charset="-120"/>
              </a:rPr>
              <a:t>Zero mean, unit variance normalization</a:t>
            </a:r>
            <a:endParaRPr lang="en-US" sz="900" dirty="0"/>
          </a:p>
        </p:txBody>
      </p:sp>
      <p:sp>
        <p:nvSpPr>
          <p:cNvPr id="12" name="Shape 10"/>
          <p:cNvSpPr/>
          <p:nvPr/>
        </p:nvSpPr>
        <p:spPr>
          <a:xfrm>
            <a:off x="2423160" y="1975104"/>
            <a:ext cx="0" cy="182880"/>
          </a:xfrm>
          <a:prstGeom prst="line">
            <a:avLst/>
          </a:prstGeom>
          <a:noFill/>
          <a:ln w="25400">
            <a:solidFill>
              <a:srgbClr val="1F3864"/>
            </a:solidFill>
            <a:prstDash val="solid"/>
          </a:ln>
        </p:spPr>
      </p:sp>
      <p:sp>
        <p:nvSpPr>
          <p:cNvPr id="13" name="Shape 11"/>
          <p:cNvSpPr/>
          <p:nvPr/>
        </p:nvSpPr>
        <p:spPr>
          <a:xfrm>
            <a:off x="365760" y="2157984"/>
            <a:ext cx="3840480" cy="713232"/>
          </a:xfrm>
          <a:prstGeom prst="roundRect">
            <a:avLst>
              <a:gd name="adj" fmla="val 6410"/>
            </a:avLst>
          </a:prstGeom>
          <a:solidFill>
            <a:srgbClr val="F1F5F9"/>
          </a:solidFill>
          <a:ln w="19050">
            <a:solidFill>
              <a:srgbClr val="1F3864"/>
            </a:solidFill>
            <a:prstDash val="solid"/>
          </a:ln>
        </p:spPr>
      </p:sp>
      <p:sp>
        <p:nvSpPr>
          <p:cNvPr id="14" name="Shape 12"/>
          <p:cNvSpPr/>
          <p:nvPr/>
        </p:nvSpPr>
        <p:spPr>
          <a:xfrm>
            <a:off x="411480" y="2313432"/>
            <a:ext cx="384048" cy="384048"/>
          </a:xfrm>
          <a:prstGeom prst="ellipse">
            <a:avLst/>
          </a:prstGeom>
          <a:solidFill>
            <a:srgbClr val="1F3864"/>
          </a:solidFill>
          <a:ln w="12700">
            <a:solidFill>
              <a:srgbClr val="1F3864"/>
            </a:solidFill>
            <a:prstDash val="solid"/>
          </a:ln>
        </p:spPr>
      </p:sp>
      <p:sp>
        <p:nvSpPr>
          <p:cNvPr id="15" name="Text 13"/>
          <p:cNvSpPr/>
          <p:nvPr/>
        </p:nvSpPr>
        <p:spPr>
          <a:xfrm>
            <a:off x="411480" y="231343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p:nvPr/>
        </p:nvSpPr>
        <p:spPr>
          <a:xfrm>
            <a:off x="886968" y="2194560"/>
            <a:ext cx="3246120" cy="320040"/>
          </a:xfrm>
          <a:prstGeom prst="rect">
            <a:avLst/>
          </a:prstGeom>
          <a:noFill/>
          <a:ln/>
        </p:spPr>
        <p:txBody>
          <a:bodyPr wrap="square" rtlCol="0" anchor="t"/>
          <a:lstStyle/>
          <a:p>
            <a:pPr marL="0" indent="0">
              <a:buNone/>
            </a:pPr>
            <a:r>
              <a:rPr lang="en-US" sz="1200" b="1" dirty="0">
                <a:solidFill>
                  <a:srgbClr val="1F3864"/>
                </a:solidFill>
                <a:latin typeface="Calibri" pitchFamily="34" charset="0"/>
                <a:ea typeface="Calibri" pitchFamily="34" charset="-122"/>
                <a:cs typeface="Calibri" pitchFamily="34" charset="-120"/>
              </a:rPr>
              <a:t>Savitzky-Golay Filter</a:t>
            </a:r>
            <a:endParaRPr lang="en-US" sz="1200" dirty="0"/>
          </a:p>
        </p:txBody>
      </p:sp>
      <p:sp>
        <p:nvSpPr>
          <p:cNvPr id="17" name="Text 15"/>
          <p:cNvSpPr/>
          <p:nvPr/>
        </p:nvSpPr>
        <p:spPr>
          <a:xfrm>
            <a:off x="886968" y="2496312"/>
            <a:ext cx="3246120" cy="320040"/>
          </a:xfrm>
          <a:prstGeom prst="rect">
            <a:avLst/>
          </a:prstGeom>
          <a:noFill/>
          <a:ln/>
        </p:spPr>
        <p:txBody>
          <a:bodyPr wrap="square" rtlCol="0" anchor="t"/>
          <a:lstStyle/>
          <a:p>
            <a:pPr marL="0" indent="0">
              <a:buNone/>
            </a:pPr>
            <a:r>
              <a:rPr lang="en-US" sz="900" i="1" dirty="0">
                <a:solidFill>
                  <a:srgbClr val="64748B"/>
                </a:solidFill>
                <a:latin typeface="Calibri" pitchFamily="34" charset="0"/>
                <a:ea typeface="Calibri" pitchFamily="34" charset="-122"/>
                <a:cs typeface="Calibri" pitchFamily="34" charset="-120"/>
              </a:rPr>
              <a:t>Noise removal (window=11, polyorder=3)</a:t>
            </a:r>
            <a:endParaRPr lang="en-US" sz="900" dirty="0"/>
          </a:p>
        </p:txBody>
      </p:sp>
      <p:sp>
        <p:nvSpPr>
          <p:cNvPr id="18" name="Shape 16"/>
          <p:cNvSpPr/>
          <p:nvPr/>
        </p:nvSpPr>
        <p:spPr>
          <a:xfrm>
            <a:off x="2423160" y="2871216"/>
            <a:ext cx="0" cy="182880"/>
          </a:xfrm>
          <a:prstGeom prst="line">
            <a:avLst/>
          </a:prstGeom>
          <a:noFill/>
          <a:ln w="25400">
            <a:solidFill>
              <a:srgbClr val="1F3864"/>
            </a:solidFill>
            <a:prstDash val="solid"/>
          </a:ln>
        </p:spPr>
      </p:sp>
      <p:sp>
        <p:nvSpPr>
          <p:cNvPr id="19" name="Shape 17"/>
          <p:cNvSpPr/>
          <p:nvPr/>
        </p:nvSpPr>
        <p:spPr>
          <a:xfrm>
            <a:off x="365760" y="3054096"/>
            <a:ext cx="3840480" cy="713232"/>
          </a:xfrm>
          <a:prstGeom prst="roundRect">
            <a:avLst>
              <a:gd name="adj" fmla="val 6410"/>
            </a:avLst>
          </a:prstGeom>
          <a:solidFill>
            <a:srgbClr val="F1F5F9"/>
          </a:solidFill>
          <a:ln w="19050">
            <a:solidFill>
              <a:srgbClr val="1F3864"/>
            </a:solidFill>
            <a:prstDash val="solid"/>
          </a:ln>
        </p:spPr>
      </p:sp>
      <p:sp>
        <p:nvSpPr>
          <p:cNvPr id="20" name="Shape 18"/>
          <p:cNvSpPr/>
          <p:nvPr/>
        </p:nvSpPr>
        <p:spPr>
          <a:xfrm>
            <a:off x="411480" y="3209544"/>
            <a:ext cx="384048" cy="384048"/>
          </a:xfrm>
          <a:prstGeom prst="ellipse">
            <a:avLst/>
          </a:prstGeom>
          <a:solidFill>
            <a:srgbClr val="1F3864"/>
          </a:solidFill>
          <a:ln w="12700">
            <a:solidFill>
              <a:srgbClr val="1F3864"/>
            </a:solidFill>
            <a:prstDash val="solid"/>
          </a:ln>
        </p:spPr>
      </p:sp>
      <p:sp>
        <p:nvSpPr>
          <p:cNvPr id="21" name="Text 19"/>
          <p:cNvSpPr/>
          <p:nvPr/>
        </p:nvSpPr>
        <p:spPr>
          <a:xfrm>
            <a:off x="411480" y="320954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20"/>
          <p:cNvSpPr/>
          <p:nvPr/>
        </p:nvSpPr>
        <p:spPr>
          <a:xfrm>
            <a:off x="886968" y="3090672"/>
            <a:ext cx="3246120" cy="320040"/>
          </a:xfrm>
          <a:prstGeom prst="rect">
            <a:avLst/>
          </a:prstGeom>
          <a:noFill/>
          <a:ln/>
        </p:spPr>
        <p:txBody>
          <a:bodyPr wrap="square" rtlCol="0" anchor="t"/>
          <a:lstStyle/>
          <a:p>
            <a:pPr marL="0" indent="0">
              <a:buNone/>
            </a:pPr>
            <a:r>
              <a:rPr lang="en-US" sz="1200" b="1" dirty="0">
                <a:solidFill>
                  <a:srgbClr val="1F3864"/>
                </a:solidFill>
                <a:latin typeface="Calibri" pitchFamily="34" charset="0"/>
                <a:ea typeface="Calibri" pitchFamily="34" charset="-122"/>
                <a:cs typeface="Calibri" pitchFamily="34" charset="-120"/>
              </a:rPr>
              <a:t>SelectKBest (f_classif)</a:t>
            </a:r>
            <a:endParaRPr lang="en-US" sz="1200" dirty="0"/>
          </a:p>
        </p:txBody>
      </p:sp>
      <p:sp>
        <p:nvSpPr>
          <p:cNvPr id="23" name="Text 21"/>
          <p:cNvSpPr/>
          <p:nvPr/>
        </p:nvSpPr>
        <p:spPr>
          <a:xfrm>
            <a:off x="886968" y="3392424"/>
            <a:ext cx="3246120" cy="320040"/>
          </a:xfrm>
          <a:prstGeom prst="rect">
            <a:avLst/>
          </a:prstGeom>
          <a:noFill/>
          <a:ln/>
        </p:spPr>
        <p:txBody>
          <a:bodyPr wrap="square" rtlCol="0" anchor="t"/>
          <a:lstStyle/>
          <a:p>
            <a:pPr marL="0" indent="0">
              <a:buNone/>
            </a:pPr>
            <a:r>
              <a:rPr lang="en-US" sz="900" i="1" dirty="0">
                <a:solidFill>
                  <a:srgbClr val="64748B"/>
                </a:solidFill>
                <a:latin typeface="Calibri" pitchFamily="34" charset="0"/>
                <a:ea typeface="Calibri" pitchFamily="34" charset="-122"/>
                <a:cs typeface="Calibri" pitchFamily="34" charset="-120"/>
              </a:rPr>
              <a:t>Univariate feature selection, k=100</a:t>
            </a:r>
            <a:endParaRPr lang="en-US" sz="900" dirty="0"/>
          </a:p>
        </p:txBody>
      </p:sp>
      <p:sp>
        <p:nvSpPr>
          <p:cNvPr id="24" name="Shape 22"/>
          <p:cNvSpPr/>
          <p:nvPr/>
        </p:nvSpPr>
        <p:spPr>
          <a:xfrm>
            <a:off x="365760" y="4023360"/>
            <a:ext cx="3840480" cy="365760"/>
          </a:xfrm>
          <a:prstGeom prst="rect">
            <a:avLst/>
          </a:prstGeom>
          <a:solidFill>
            <a:srgbClr val="1F3864"/>
          </a:solidFill>
          <a:ln w="12700">
            <a:solidFill>
              <a:srgbClr val="1F3864"/>
            </a:solidFill>
            <a:prstDash val="solid"/>
          </a:ln>
        </p:spPr>
      </p:sp>
      <p:sp>
        <p:nvSpPr>
          <p:cNvPr id="25" name="Text 23"/>
          <p:cNvSpPr/>
          <p:nvPr/>
        </p:nvSpPr>
        <p:spPr>
          <a:xfrm>
            <a:off x="365760" y="4023360"/>
            <a:ext cx="384048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Output: 100 time-domain features</a:t>
            </a:r>
            <a:endParaRPr lang="en-US" sz="1100" dirty="0"/>
          </a:p>
        </p:txBody>
      </p:sp>
      <p:sp>
        <p:nvSpPr>
          <p:cNvPr id="26" name="Shape 24"/>
          <p:cNvSpPr/>
          <p:nvPr/>
        </p:nvSpPr>
        <p:spPr>
          <a:xfrm>
            <a:off x="4800600" y="777240"/>
            <a:ext cx="4114800" cy="384048"/>
          </a:xfrm>
          <a:prstGeom prst="rect">
            <a:avLst/>
          </a:prstGeom>
          <a:solidFill>
            <a:srgbClr val="FF6B35"/>
          </a:solidFill>
          <a:ln w="12700">
            <a:solidFill>
              <a:srgbClr val="FF6B35"/>
            </a:solidFill>
            <a:prstDash val="solid"/>
          </a:ln>
        </p:spPr>
      </p:sp>
      <p:sp>
        <p:nvSpPr>
          <p:cNvPr id="27" name="Text 25"/>
          <p:cNvSpPr/>
          <p:nvPr/>
        </p:nvSpPr>
        <p:spPr>
          <a:xfrm>
            <a:off x="4800600" y="777240"/>
            <a:ext cx="411480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Pipeline B — Feature Engineering</a:t>
            </a:r>
            <a:endParaRPr lang="en-US" sz="1400" dirty="0"/>
          </a:p>
        </p:txBody>
      </p:sp>
      <p:sp>
        <p:nvSpPr>
          <p:cNvPr id="28" name="Shape 26"/>
          <p:cNvSpPr/>
          <p:nvPr/>
        </p:nvSpPr>
        <p:spPr>
          <a:xfrm>
            <a:off x="4937760" y="1261872"/>
            <a:ext cx="3840480" cy="713232"/>
          </a:xfrm>
          <a:prstGeom prst="roundRect">
            <a:avLst>
              <a:gd name="adj" fmla="val 6410"/>
            </a:avLst>
          </a:prstGeom>
          <a:solidFill>
            <a:srgbClr val="F1F5F9"/>
          </a:solidFill>
          <a:ln w="19050">
            <a:solidFill>
              <a:srgbClr val="FF6B35"/>
            </a:solidFill>
            <a:prstDash val="solid"/>
          </a:ln>
        </p:spPr>
      </p:sp>
      <p:sp>
        <p:nvSpPr>
          <p:cNvPr id="29" name="Shape 27"/>
          <p:cNvSpPr/>
          <p:nvPr/>
        </p:nvSpPr>
        <p:spPr>
          <a:xfrm>
            <a:off x="4983480" y="1417320"/>
            <a:ext cx="384048" cy="384048"/>
          </a:xfrm>
          <a:prstGeom prst="ellipse">
            <a:avLst/>
          </a:prstGeom>
          <a:solidFill>
            <a:srgbClr val="FF6B35"/>
          </a:solidFill>
          <a:ln w="12700">
            <a:solidFill>
              <a:srgbClr val="FF6B35"/>
            </a:solidFill>
            <a:prstDash val="solid"/>
          </a:ln>
        </p:spPr>
      </p:sp>
      <p:sp>
        <p:nvSpPr>
          <p:cNvPr id="30" name="Text 28"/>
          <p:cNvSpPr/>
          <p:nvPr/>
        </p:nvSpPr>
        <p:spPr>
          <a:xfrm>
            <a:off x="4983480" y="14173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1" name="Text 29"/>
          <p:cNvSpPr/>
          <p:nvPr/>
        </p:nvSpPr>
        <p:spPr>
          <a:xfrm>
            <a:off x="5458968" y="1298448"/>
            <a:ext cx="3246120" cy="320040"/>
          </a:xfrm>
          <a:prstGeom prst="rect">
            <a:avLst/>
          </a:prstGeom>
          <a:noFill/>
          <a:ln/>
        </p:spPr>
        <p:txBody>
          <a:bodyPr wrap="square" rtlCol="0" anchor="t"/>
          <a:lstStyle/>
          <a:p>
            <a:pPr marL="0" indent="0">
              <a:buNone/>
            </a:pPr>
            <a:r>
              <a:rPr lang="en-US" sz="1200" b="1" dirty="0">
                <a:solidFill>
                  <a:srgbClr val="1F3864"/>
                </a:solidFill>
                <a:latin typeface="Calibri" pitchFamily="34" charset="0"/>
                <a:ea typeface="Calibri" pitchFamily="34" charset="-122"/>
                <a:cs typeface="Calibri" pitchFamily="34" charset="-120"/>
              </a:rPr>
              <a:t>Extract 28 Features</a:t>
            </a:r>
            <a:endParaRPr lang="en-US" sz="1200" dirty="0"/>
          </a:p>
        </p:txBody>
      </p:sp>
      <p:sp>
        <p:nvSpPr>
          <p:cNvPr id="32" name="Text 30"/>
          <p:cNvSpPr/>
          <p:nvPr/>
        </p:nvSpPr>
        <p:spPr>
          <a:xfrm>
            <a:off x="5458968" y="1600200"/>
            <a:ext cx="3246120" cy="320040"/>
          </a:xfrm>
          <a:prstGeom prst="rect">
            <a:avLst/>
          </a:prstGeom>
          <a:noFill/>
          <a:ln/>
        </p:spPr>
        <p:txBody>
          <a:bodyPr wrap="square" rtlCol="0" anchor="t"/>
          <a:lstStyle/>
          <a:p>
            <a:pPr marL="0" indent="0">
              <a:buNone/>
            </a:pPr>
            <a:r>
              <a:rPr lang="en-US" sz="900" i="1" dirty="0">
                <a:solidFill>
                  <a:srgbClr val="64748B"/>
                </a:solidFill>
                <a:latin typeface="Calibri" pitchFamily="34" charset="0"/>
                <a:ea typeface="Calibri" pitchFamily="34" charset="-122"/>
                <a:cs typeface="Calibri" pitchFamily="34" charset="-120"/>
              </a:rPr>
              <a:t>Band powers, entropy, RMS, zero-crossing rate...</a:t>
            </a:r>
            <a:endParaRPr lang="en-US" sz="900" dirty="0"/>
          </a:p>
        </p:txBody>
      </p:sp>
      <p:sp>
        <p:nvSpPr>
          <p:cNvPr id="33" name="Shape 31"/>
          <p:cNvSpPr/>
          <p:nvPr/>
        </p:nvSpPr>
        <p:spPr>
          <a:xfrm>
            <a:off x="6995160" y="1975104"/>
            <a:ext cx="0" cy="182880"/>
          </a:xfrm>
          <a:prstGeom prst="line">
            <a:avLst/>
          </a:prstGeom>
          <a:noFill/>
          <a:ln w="25400">
            <a:solidFill>
              <a:srgbClr val="FF6B35"/>
            </a:solidFill>
            <a:prstDash val="solid"/>
          </a:ln>
        </p:spPr>
      </p:sp>
      <p:sp>
        <p:nvSpPr>
          <p:cNvPr id="34" name="Shape 32"/>
          <p:cNvSpPr/>
          <p:nvPr/>
        </p:nvSpPr>
        <p:spPr>
          <a:xfrm>
            <a:off x="4937760" y="2157984"/>
            <a:ext cx="3840480" cy="713232"/>
          </a:xfrm>
          <a:prstGeom prst="roundRect">
            <a:avLst>
              <a:gd name="adj" fmla="val 6410"/>
            </a:avLst>
          </a:prstGeom>
          <a:solidFill>
            <a:srgbClr val="F1F5F9"/>
          </a:solidFill>
          <a:ln w="19050">
            <a:solidFill>
              <a:srgbClr val="FF6B35"/>
            </a:solidFill>
            <a:prstDash val="solid"/>
          </a:ln>
        </p:spPr>
      </p:sp>
      <p:sp>
        <p:nvSpPr>
          <p:cNvPr id="35" name="Shape 33"/>
          <p:cNvSpPr/>
          <p:nvPr/>
        </p:nvSpPr>
        <p:spPr>
          <a:xfrm>
            <a:off x="4983480" y="2313432"/>
            <a:ext cx="384048" cy="384048"/>
          </a:xfrm>
          <a:prstGeom prst="ellipse">
            <a:avLst/>
          </a:prstGeom>
          <a:solidFill>
            <a:srgbClr val="FF6B35"/>
          </a:solidFill>
          <a:ln w="12700">
            <a:solidFill>
              <a:srgbClr val="FF6B35"/>
            </a:solidFill>
            <a:prstDash val="solid"/>
          </a:ln>
        </p:spPr>
      </p:sp>
      <p:sp>
        <p:nvSpPr>
          <p:cNvPr id="36" name="Text 34"/>
          <p:cNvSpPr/>
          <p:nvPr/>
        </p:nvSpPr>
        <p:spPr>
          <a:xfrm>
            <a:off x="4983480" y="231343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7" name="Text 35"/>
          <p:cNvSpPr/>
          <p:nvPr/>
        </p:nvSpPr>
        <p:spPr>
          <a:xfrm>
            <a:off x="5458968" y="2194560"/>
            <a:ext cx="3246120" cy="320040"/>
          </a:xfrm>
          <a:prstGeom prst="rect">
            <a:avLst/>
          </a:prstGeom>
          <a:noFill/>
          <a:ln/>
        </p:spPr>
        <p:txBody>
          <a:bodyPr wrap="square" rtlCol="0" anchor="t"/>
          <a:lstStyle/>
          <a:p>
            <a:pPr marL="0" indent="0">
              <a:buNone/>
            </a:pPr>
            <a:r>
              <a:rPr lang="en-US" sz="1200" b="1" dirty="0">
                <a:solidFill>
                  <a:srgbClr val="1F3864"/>
                </a:solidFill>
                <a:latin typeface="Calibri" pitchFamily="34" charset="0"/>
                <a:ea typeface="Calibri" pitchFamily="34" charset="-122"/>
                <a:cs typeface="Calibri" pitchFamily="34" charset="-120"/>
              </a:rPr>
              <a:t>MinMaxScaler</a:t>
            </a:r>
            <a:endParaRPr lang="en-US" sz="1200" dirty="0"/>
          </a:p>
        </p:txBody>
      </p:sp>
      <p:sp>
        <p:nvSpPr>
          <p:cNvPr id="38" name="Text 36"/>
          <p:cNvSpPr/>
          <p:nvPr/>
        </p:nvSpPr>
        <p:spPr>
          <a:xfrm>
            <a:off x="5458968" y="2496312"/>
            <a:ext cx="3246120" cy="320040"/>
          </a:xfrm>
          <a:prstGeom prst="rect">
            <a:avLst/>
          </a:prstGeom>
          <a:noFill/>
          <a:ln/>
        </p:spPr>
        <p:txBody>
          <a:bodyPr wrap="square" rtlCol="0" anchor="t"/>
          <a:lstStyle/>
          <a:p>
            <a:pPr marL="0" indent="0">
              <a:buNone/>
            </a:pPr>
            <a:r>
              <a:rPr lang="en-US" sz="900" i="1" dirty="0">
                <a:solidFill>
                  <a:srgbClr val="64748B"/>
                </a:solidFill>
                <a:latin typeface="Calibri" pitchFamily="34" charset="0"/>
                <a:ea typeface="Calibri" pitchFamily="34" charset="-122"/>
                <a:cs typeface="Calibri" pitchFamily="34" charset="-120"/>
              </a:rPr>
              <a:t>Scale all features to [0, 1] range</a:t>
            </a:r>
            <a:endParaRPr lang="en-US" sz="900" dirty="0"/>
          </a:p>
        </p:txBody>
      </p:sp>
      <p:sp>
        <p:nvSpPr>
          <p:cNvPr id="39" name="Shape 37"/>
          <p:cNvSpPr/>
          <p:nvPr/>
        </p:nvSpPr>
        <p:spPr>
          <a:xfrm>
            <a:off x="6995160" y="2871216"/>
            <a:ext cx="0" cy="182880"/>
          </a:xfrm>
          <a:prstGeom prst="line">
            <a:avLst/>
          </a:prstGeom>
          <a:noFill/>
          <a:ln w="25400">
            <a:solidFill>
              <a:srgbClr val="FF6B35"/>
            </a:solidFill>
            <a:prstDash val="solid"/>
          </a:ln>
        </p:spPr>
      </p:sp>
      <p:sp>
        <p:nvSpPr>
          <p:cNvPr id="40" name="Shape 38"/>
          <p:cNvSpPr/>
          <p:nvPr/>
        </p:nvSpPr>
        <p:spPr>
          <a:xfrm>
            <a:off x="4937760" y="3054096"/>
            <a:ext cx="3840480" cy="713232"/>
          </a:xfrm>
          <a:prstGeom prst="roundRect">
            <a:avLst>
              <a:gd name="adj" fmla="val 6410"/>
            </a:avLst>
          </a:prstGeom>
          <a:solidFill>
            <a:srgbClr val="F1F5F9"/>
          </a:solidFill>
          <a:ln w="19050">
            <a:solidFill>
              <a:srgbClr val="FF6B35"/>
            </a:solidFill>
            <a:prstDash val="solid"/>
          </a:ln>
        </p:spPr>
      </p:sp>
      <p:sp>
        <p:nvSpPr>
          <p:cNvPr id="41" name="Shape 39"/>
          <p:cNvSpPr/>
          <p:nvPr/>
        </p:nvSpPr>
        <p:spPr>
          <a:xfrm>
            <a:off x="4983480" y="3209544"/>
            <a:ext cx="384048" cy="384048"/>
          </a:xfrm>
          <a:prstGeom prst="ellipse">
            <a:avLst/>
          </a:prstGeom>
          <a:solidFill>
            <a:srgbClr val="FF6B35"/>
          </a:solidFill>
          <a:ln w="12700">
            <a:solidFill>
              <a:srgbClr val="FF6B35"/>
            </a:solidFill>
            <a:prstDash val="solid"/>
          </a:ln>
        </p:spPr>
      </p:sp>
      <p:sp>
        <p:nvSpPr>
          <p:cNvPr id="42" name="Text 40"/>
          <p:cNvSpPr/>
          <p:nvPr/>
        </p:nvSpPr>
        <p:spPr>
          <a:xfrm>
            <a:off x="4983480" y="320954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3" name="Text 41"/>
          <p:cNvSpPr/>
          <p:nvPr/>
        </p:nvSpPr>
        <p:spPr>
          <a:xfrm>
            <a:off x="5458968" y="3090672"/>
            <a:ext cx="3246120" cy="320040"/>
          </a:xfrm>
          <a:prstGeom prst="rect">
            <a:avLst/>
          </a:prstGeom>
          <a:noFill/>
          <a:ln/>
        </p:spPr>
        <p:txBody>
          <a:bodyPr wrap="square" rtlCol="0" anchor="t"/>
          <a:lstStyle/>
          <a:p>
            <a:pPr marL="0" indent="0">
              <a:buNone/>
            </a:pPr>
            <a:r>
              <a:rPr lang="en-US" sz="1200" b="1" dirty="0">
                <a:solidFill>
                  <a:srgbClr val="1F3864"/>
                </a:solidFill>
                <a:latin typeface="Calibri" pitchFamily="34" charset="0"/>
                <a:ea typeface="Calibri" pitchFamily="34" charset="-122"/>
                <a:cs typeface="Calibri" pitchFamily="34" charset="-120"/>
              </a:rPr>
              <a:t>PCA (n=15 components)</a:t>
            </a:r>
            <a:endParaRPr lang="en-US" sz="1200" dirty="0"/>
          </a:p>
        </p:txBody>
      </p:sp>
      <p:sp>
        <p:nvSpPr>
          <p:cNvPr id="44" name="Text 42"/>
          <p:cNvSpPr/>
          <p:nvPr/>
        </p:nvSpPr>
        <p:spPr>
          <a:xfrm>
            <a:off x="5458968" y="3392424"/>
            <a:ext cx="3246120" cy="320040"/>
          </a:xfrm>
          <a:prstGeom prst="rect">
            <a:avLst/>
          </a:prstGeom>
          <a:noFill/>
          <a:ln/>
        </p:spPr>
        <p:txBody>
          <a:bodyPr wrap="square" rtlCol="0" anchor="t"/>
          <a:lstStyle/>
          <a:p>
            <a:pPr marL="0" indent="0">
              <a:buNone/>
            </a:pPr>
            <a:r>
              <a:rPr lang="en-US" sz="900" i="1" dirty="0">
                <a:solidFill>
                  <a:srgbClr val="64748B"/>
                </a:solidFill>
                <a:latin typeface="Calibri" pitchFamily="34" charset="0"/>
                <a:ea typeface="Calibri" pitchFamily="34" charset="-122"/>
                <a:cs typeface="Calibri" pitchFamily="34" charset="-120"/>
              </a:rPr>
              <a:t>Dimensionality reduction to 15 PCs</a:t>
            </a:r>
            <a:endParaRPr lang="en-US" sz="900" dirty="0"/>
          </a:p>
        </p:txBody>
      </p:sp>
      <p:sp>
        <p:nvSpPr>
          <p:cNvPr id="45" name="Shape 43"/>
          <p:cNvSpPr/>
          <p:nvPr/>
        </p:nvSpPr>
        <p:spPr>
          <a:xfrm>
            <a:off x="4937760" y="4023360"/>
            <a:ext cx="3840480" cy="365760"/>
          </a:xfrm>
          <a:prstGeom prst="rect">
            <a:avLst/>
          </a:prstGeom>
          <a:solidFill>
            <a:srgbClr val="FF6B35"/>
          </a:solidFill>
          <a:ln w="12700">
            <a:solidFill>
              <a:srgbClr val="FF6B35"/>
            </a:solidFill>
            <a:prstDash val="solid"/>
          </a:ln>
        </p:spPr>
      </p:sp>
      <p:sp>
        <p:nvSpPr>
          <p:cNvPr id="46" name="Text 44"/>
          <p:cNvSpPr/>
          <p:nvPr/>
        </p:nvSpPr>
        <p:spPr>
          <a:xfrm>
            <a:off x="4937760" y="4023360"/>
            <a:ext cx="384048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Output: 15 principal components</a:t>
            </a:r>
            <a:endParaRPr lang="en-US" sz="1100" dirty="0"/>
          </a:p>
        </p:txBody>
      </p:sp>
      <p:sp>
        <p:nvSpPr>
          <p:cNvPr id="47" name="Shape 45"/>
          <p:cNvSpPr/>
          <p:nvPr/>
        </p:nvSpPr>
        <p:spPr>
          <a:xfrm>
            <a:off x="274320" y="4480560"/>
            <a:ext cx="8595360" cy="502920"/>
          </a:xfrm>
          <a:prstGeom prst="rect">
            <a:avLst/>
          </a:prstGeom>
          <a:solidFill>
            <a:srgbClr val="FFF3EE"/>
          </a:solidFill>
          <a:ln w="25400">
            <a:solidFill>
              <a:srgbClr val="FF6B35"/>
            </a:solidFill>
            <a:prstDash val="solid"/>
          </a:ln>
        </p:spPr>
      </p:sp>
      <p:sp>
        <p:nvSpPr>
          <p:cNvPr id="48" name="Shape 46"/>
          <p:cNvSpPr/>
          <p:nvPr/>
        </p:nvSpPr>
        <p:spPr>
          <a:xfrm>
            <a:off x="274320" y="4480560"/>
            <a:ext cx="64008" cy="502920"/>
          </a:xfrm>
          <a:prstGeom prst="rect">
            <a:avLst/>
          </a:prstGeom>
          <a:solidFill>
            <a:srgbClr val="FF6B35"/>
          </a:solidFill>
          <a:ln w="12700">
            <a:solidFill>
              <a:srgbClr val="FF6B35"/>
            </a:solidFill>
            <a:prstDash val="solid"/>
          </a:ln>
        </p:spPr>
      </p:sp>
      <p:sp>
        <p:nvSpPr>
          <p:cNvPr id="49" name="Text 47"/>
          <p:cNvSpPr/>
          <p:nvPr/>
        </p:nvSpPr>
        <p:spPr>
          <a:xfrm>
            <a:off x="411480" y="4480560"/>
            <a:ext cx="8412480" cy="502920"/>
          </a:xfrm>
          <a:prstGeom prst="rect">
            <a:avLst/>
          </a:prstGeom>
          <a:noFill/>
          <a:ln/>
        </p:spPr>
        <p:txBody>
          <a:bodyPr wrap="square" rtlCol="0" anchor="ctr"/>
          <a:lstStyle/>
          <a:p>
            <a:pPr marL="0" indent="0">
              <a:buNone/>
            </a:pPr>
            <a:r>
              <a:rPr lang="en-US" sz="1200" b="1" dirty="0">
                <a:solidFill>
                  <a:srgbClr val="7A2700"/>
                </a:solidFill>
                <a:latin typeface="Calibri" pitchFamily="34" charset="0"/>
                <a:ea typeface="Calibri" pitchFamily="34" charset="-122"/>
                <a:cs typeface="Calibri" pitchFamily="34" charset="-120"/>
              </a:rPr>
              <a:t>Key Insight: Pipeline B extracts spectral features BEFORE scaling — preserving physiologically meaningful amplitude relationships essential for seizure discrimination</a:t>
            </a:r>
            <a:endParaRPr lang="en-US" sz="1200" dirty="0"/>
          </a:p>
        </p:txBody>
      </p:sp>
      <p:sp>
        <p:nvSpPr>
          <p:cNvPr id="50" name="Text 48"/>
          <p:cNvSpPr/>
          <p:nvPr/>
        </p:nvSpPr>
        <p:spPr>
          <a:xfrm>
            <a:off x="603504" y="4779927"/>
            <a:ext cx="8595360" cy="182880"/>
          </a:xfrm>
          <a:prstGeom prst="rect">
            <a:avLst/>
          </a:prstGeom>
          <a:noFill/>
          <a:ln/>
        </p:spPr>
        <p:txBody>
          <a:bodyPr wrap="square" rtlCol="0" anchor="ctr"/>
          <a:lstStyle/>
          <a:p>
            <a:pPr marL="0" indent="0">
              <a:buNone/>
            </a:pP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w="12700">
            <a:solidFill>
              <a:srgbClr val="1F3864"/>
            </a:solidFill>
            <a:prstDash val="solid"/>
          </a:ln>
        </p:spPr>
      </p:sp>
      <p:sp>
        <p:nvSpPr>
          <p:cNvPr id="3" name="Text 1"/>
          <p:cNvSpPr/>
          <p:nvPr/>
        </p:nvSpPr>
        <p:spPr>
          <a:xfrm>
            <a:off x="320040" y="36576"/>
            <a:ext cx="8503920" cy="61264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Baseline Logistic Regression Results (C = 1.0)</a:t>
            </a:r>
            <a:endParaRPr lang="en-US" sz="2200" dirty="0"/>
          </a:p>
        </p:txBody>
      </p:sp>
      <p:sp>
        <p:nvSpPr>
          <p:cNvPr id="4" name="Text 2"/>
          <p:cNvSpPr/>
          <p:nvPr/>
        </p:nvSpPr>
        <p:spPr>
          <a:xfrm>
            <a:off x="7772400" y="4892040"/>
            <a:ext cx="1188720" cy="201168"/>
          </a:xfrm>
          <a:prstGeom prst="rect">
            <a:avLst/>
          </a:prstGeom>
          <a:noFill/>
          <a:ln/>
        </p:spPr>
        <p:txBody>
          <a:bodyPr wrap="square" rtlCol="0" anchor="ctr"/>
          <a:lstStyle/>
          <a:p>
            <a:pPr marL="0" indent="0" algn="r">
              <a:buNone/>
            </a:pP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868680"/>
          <a:ext cx="8595360" cy="1991360"/>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Pipeline</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F1-Score</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PR-AUC</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D1 (1:1)</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Pipeline A</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0.578</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0.503</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0.652</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extLst>
                  <a:ext uri="{0D108BD9-81ED-4DB2-BD59-A6C34878D82A}">
                    <a16:rowId xmlns:a16="http://schemas.microsoft.com/office/drawing/2014/main" val="10001"/>
                  </a:ext>
                </a:extLst>
              </a:tr>
              <a:tr h="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D1 (1:1)</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Pipeline B</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D2 (2:1)</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Pipeline A</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0.708</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0.233</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0.530</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extLst>
                  <a:ext uri="{0D108BD9-81ED-4DB2-BD59-A6C34878D82A}">
                    <a16:rowId xmlns:a16="http://schemas.microsoft.com/office/drawing/2014/main" val="10003"/>
                  </a:ext>
                </a:extLst>
              </a:tr>
              <a:tr h="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D2 (2:1)</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Pipeline B</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0.951</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0.925</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0.979</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D3 (4:1)</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Pipeline A</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0.813</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0.130</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0.424</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extLst>
                  <a:ext uri="{0D108BD9-81ED-4DB2-BD59-A6C34878D82A}">
                    <a16:rowId xmlns:a16="http://schemas.microsoft.com/office/drawing/2014/main" val="10005"/>
                  </a:ext>
                </a:extLst>
              </a:tr>
              <a:tr h="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D3 (4:1)</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Pipeline B</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0.965</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0.908</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0.970</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hape 3"/>
          <p:cNvSpPr/>
          <p:nvPr/>
        </p:nvSpPr>
        <p:spPr>
          <a:xfrm>
            <a:off x="274320" y="3429000"/>
            <a:ext cx="2743200" cy="914400"/>
          </a:xfrm>
          <a:prstGeom prst="rect">
            <a:avLst/>
          </a:prstGeom>
          <a:solidFill>
            <a:srgbClr val="2E8B57"/>
          </a:solidFill>
          <a:ln w="12700">
            <a:solidFill>
              <a:srgbClr val="2E8B57"/>
            </a:solidFill>
            <a:prstDash val="solid"/>
          </a:ln>
          <a:effectLst>
            <a:outerShdw blurRad="63500" dist="25400" dir="8100000" algn="bl" rotWithShape="0">
              <a:srgbClr val="000000">
                <a:alpha val="12000"/>
              </a:srgbClr>
            </a:outerShdw>
          </a:effectLst>
        </p:spPr>
      </p:sp>
      <p:sp>
        <p:nvSpPr>
          <p:cNvPr id="5" name="Text 4"/>
          <p:cNvSpPr/>
          <p:nvPr/>
        </p:nvSpPr>
        <p:spPr>
          <a:xfrm>
            <a:off x="274320" y="3456432"/>
            <a:ext cx="2743200" cy="45720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97%</a:t>
            </a:r>
            <a:endParaRPr lang="en-US" sz="2800" dirty="0"/>
          </a:p>
        </p:txBody>
      </p:sp>
      <p:sp>
        <p:nvSpPr>
          <p:cNvPr id="8" name="Text 5"/>
          <p:cNvSpPr/>
          <p:nvPr/>
        </p:nvSpPr>
        <p:spPr>
          <a:xfrm>
            <a:off x="274320" y="3913632"/>
            <a:ext cx="2743200" cy="320040"/>
          </a:xfrm>
          <a:prstGeom prst="rect">
            <a:avLst/>
          </a:prstGeom>
          <a:noFill/>
          <a:ln/>
        </p:spPr>
        <p:txBody>
          <a:bodyPr wrap="square" rtlCol="0" anchor="ctr"/>
          <a:lstStyle/>
          <a:p>
            <a:pPr marL="0" indent="0" algn="ctr">
              <a:buNone/>
            </a:pPr>
            <a:r>
              <a:rPr lang="en-US" sz="1000" dirty="0">
                <a:solidFill>
                  <a:srgbClr val="D0E8FF"/>
                </a:solidFill>
                <a:latin typeface="Calibri" pitchFamily="34" charset="0"/>
                <a:ea typeface="Calibri" pitchFamily="34" charset="-122"/>
                <a:cs typeface="Calibri" pitchFamily="34" charset="-120"/>
              </a:rPr>
              <a:t>F1-Score — Pipeline B on D1</a:t>
            </a:r>
            <a:endParaRPr lang="en-US" sz="1000" dirty="0"/>
          </a:p>
        </p:txBody>
      </p:sp>
      <p:sp>
        <p:nvSpPr>
          <p:cNvPr id="9" name="Shape 6"/>
          <p:cNvSpPr/>
          <p:nvPr/>
        </p:nvSpPr>
        <p:spPr>
          <a:xfrm>
            <a:off x="3154680" y="3429000"/>
            <a:ext cx="2743200" cy="914400"/>
          </a:xfrm>
          <a:prstGeom prst="rect">
            <a:avLst/>
          </a:prstGeom>
          <a:solidFill>
            <a:srgbClr val="FF6B35"/>
          </a:solidFill>
          <a:ln w="12700">
            <a:solidFill>
              <a:srgbClr val="FF6B35"/>
            </a:solidFill>
            <a:prstDash val="solid"/>
          </a:ln>
          <a:effectLst>
            <a:outerShdw blurRad="63500" dist="25400" dir="8100000" algn="bl" rotWithShape="0">
              <a:srgbClr val="000000">
                <a:alpha val="12000"/>
              </a:srgbClr>
            </a:outerShdw>
          </a:effectLst>
        </p:spPr>
      </p:sp>
      <p:sp>
        <p:nvSpPr>
          <p:cNvPr id="10" name="Text 7"/>
          <p:cNvSpPr/>
          <p:nvPr/>
        </p:nvSpPr>
        <p:spPr>
          <a:xfrm>
            <a:off x="3154680" y="3456432"/>
            <a:ext cx="2743200" cy="45720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50%</a:t>
            </a:r>
            <a:endParaRPr lang="en-US" sz="2800" dirty="0"/>
          </a:p>
        </p:txBody>
      </p:sp>
      <p:sp>
        <p:nvSpPr>
          <p:cNvPr id="11" name="Text 8"/>
          <p:cNvSpPr/>
          <p:nvPr/>
        </p:nvSpPr>
        <p:spPr>
          <a:xfrm>
            <a:off x="3154680" y="3913632"/>
            <a:ext cx="2743200" cy="320040"/>
          </a:xfrm>
          <a:prstGeom prst="rect">
            <a:avLst/>
          </a:prstGeom>
          <a:noFill/>
          <a:ln/>
        </p:spPr>
        <p:txBody>
          <a:bodyPr wrap="square" rtlCol="0" anchor="ctr"/>
          <a:lstStyle/>
          <a:p>
            <a:pPr marL="0" indent="0" algn="ctr">
              <a:buNone/>
            </a:pPr>
            <a:r>
              <a:rPr lang="en-US" sz="1000" dirty="0">
                <a:solidFill>
                  <a:srgbClr val="D0E8FF"/>
                </a:solidFill>
                <a:latin typeface="Calibri" pitchFamily="34" charset="0"/>
                <a:ea typeface="Calibri" pitchFamily="34" charset="-122"/>
                <a:cs typeface="Calibri" pitchFamily="34" charset="-120"/>
              </a:rPr>
              <a:t>Gap (A vs B) — On balanced D1</a:t>
            </a:r>
            <a:endParaRPr lang="en-US" sz="1000" dirty="0"/>
          </a:p>
        </p:txBody>
      </p:sp>
      <p:sp>
        <p:nvSpPr>
          <p:cNvPr id="12" name="Shape 9"/>
          <p:cNvSpPr/>
          <p:nvPr/>
        </p:nvSpPr>
        <p:spPr>
          <a:xfrm>
            <a:off x="6035040" y="3429000"/>
            <a:ext cx="2743200" cy="914400"/>
          </a:xfrm>
          <a:prstGeom prst="rect">
            <a:avLst/>
          </a:prstGeom>
          <a:solidFill>
            <a:srgbClr val="2E4E8A"/>
          </a:solidFill>
          <a:ln w="12700">
            <a:solidFill>
              <a:srgbClr val="2E4E8A"/>
            </a:solidFill>
            <a:prstDash val="solid"/>
          </a:ln>
          <a:effectLst>
            <a:outerShdw blurRad="63500" dist="25400" dir="8100000" algn="bl" rotWithShape="0">
              <a:srgbClr val="000000">
                <a:alpha val="12000"/>
              </a:srgbClr>
            </a:outerShdw>
          </a:effectLst>
        </p:spPr>
      </p:sp>
      <p:sp>
        <p:nvSpPr>
          <p:cNvPr id="13" name="Text 10"/>
          <p:cNvSpPr/>
          <p:nvPr/>
        </p:nvSpPr>
        <p:spPr>
          <a:xfrm>
            <a:off x="6035040" y="3456432"/>
            <a:ext cx="2743200" cy="45720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97%</a:t>
            </a:r>
            <a:endParaRPr lang="en-US" sz="2800" dirty="0"/>
          </a:p>
        </p:txBody>
      </p:sp>
      <p:sp>
        <p:nvSpPr>
          <p:cNvPr id="14" name="Text 11"/>
          <p:cNvSpPr/>
          <p:nvPr/>
        </p:nvSpPr>
        <p:spPr>
          <a:xfrm>
            <a:off x="6035040" y="3913632"/>
            <a:ext cx="2743200" cy="320040"/>
          </a:xfrm>
          <a:prstGeom prst="rect">
            <a:avLst/>
          </a:prstGeom>
          <a:noFill/>
          <a:ln/>
        </p:spPr>
        <p:txBody>
          <a:bodyPr wrap="square" rtlCol="0" anchor="ctr"/>
          <a:lstStyle/>
          <a:p>
            <a:pPr marL="0" indent="0" algn="ctr">
              <a:buNone/>
            </a:pPr>
            <a:r>
              <a:rPr lang="en-US" sz="1000" dirty="0">
                <a:solidFill>
                  <a:srgbClr val="D0E8FF"/>
                </a:solidFill>
                <a:latin typeface="Calibri" pitchFamily="34" charset="0"/>
                <a:ea typeface="Calibri" pitchFamily="34" charset="-122"/>
                <a:cs typeface="Calibri" pitchFamily="34" charset="-120"/>
              </a:rPr>
              <a:t>PR-AUC — Pipeline B on D2</a:t>
            </a:r>
            <a:endParaRPr lang="en-US" sz="1000" dirty="0"/>
          </a:p>
        </p:txBody>
      </p:sp>
      <p:sp>
        <p:nvSpPr>
          <p:cNvPr id="15" name="Shape 12"/>
          <p:cNvSpPr/>
          <p:nvPr/>
        </p:nvSpPr>
        <p:spPr>
          <a:xfrm>
            <a:off x="274320" y="4480560"/>
            <a:ext cx="8595360" cy="457200"/>
          </a:xfrm>
          <a:prstGeom prst="rect">
            <a:avLst/>
          </a:prstGeom>
          <a:solidFill>
            <a:srgbClr val="FFF3EE"/>
          </a:solidFill>
          <a:ln w="25400">
            <a:solidFill>
              <a:srgbClr val="FF6B35"/>
            </a:solidFill>
            <a:prstDash val="solid"/>
          </a:ln>
        </p:spPr>
      </p:sp>
      <p:sp>
        <p:nvSpPr>
          <p:cNvPr id="16" name="Shape 13"/>
          <p:cNvSpPr/>
          <p:nvPr/>
        </p:nvSpPr>
        <p:spPr>
          <a:xfrm>
            <a:off x="274320" y="4480560"/>
            <a:ext cx="64008" cy="457200"/>
          </a:xfrm>
          <a:prstGeom prst="rect">
            <a:avLst/>
          </a:prstGeom>
          <a:solidFill>
            <a:srgbClr val="FF6B35"/>
          </a:solidFill>
          <a:ln w="12700">
            <a:solidFill>
              <a:srgbClr val="FF6B35"/>
            </a:solidFill>
            <a:prstDash val="solid"/>
          </a:ln>
        </p:spPr>
      </p:sp>
      <p:sp>
        <p:nvSpPr>
          <p:cNvPr id="17" name="Text 14"/>
          <p:cNvSpPr/>
          <p:nvPr/>
        </p:nvSpPr>
        <p:spPr>
          <a:xfrm>
            <a:off x="411480" y="4480560"/>
            <a:ext cx="8412480" cy="457200"/>
          </a:xfrm>
          <a:prstGeom prst="rect">
            <a:avLst/>
          </a:prstGeom>
          <a:noFill/>
          <a:ln/>
        </p:spPr>
        <p:txBody>
          <a:bodyPr wrap="square" rtlCol="0" anchor="ctr"/>
          <a:lstStyle/>
          <a:p>
            <a:pPr marL="0" indent="0">
              <a:buNone/>
            </a:pPr>
            <a:r>
              <a:rPr lang="en-US" sz="1200" b="1" dirty="0">
                <a:solidFill>
                  <a:srgbClr val="7A2700"/>
                </a:solidFill>
                <a:latin typeface="Calibri" pitchFamily="34" charset="0"/>
                <a:ea typeface="Calibri" pitchFamily="34" charset="-122"/>
                <a:cs typeface="Calibri" pitchFamily="34" charset="-120"/>
              </a:rPr>
              <a:t>Pipeline B achieves up to 50% higher F1 than Pipeline A — spectral features are essential for seizure EEG classification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w="12700">
            <a:solidFill>
              <a:srgbClr val="1F3864"/>
            </a:solidFill>
            <a:prstDash val="solid"/>
          </a:ln>
        </p:spPr>
      </p:sp>
      <p:sp>
        <p:nvSpPr>
          <p:cNvPr id="3" name="Text 1"/>
          <p:cNvSpPr/>
          <p:nvPr/>
        </p:nvSpPr>
        <p:spPr>
          <a:xfrm>
            <a:off x="320040" y="36576"/>
            <a:ext cx="8503920" cy="61264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Bias-Variance Trade-off Demonstration</a:t>
            </a:r>
            <a:endParaRPr lang="en-US" sz="2200" dirty="0"/>
          </a:p>
        </p:txBody>
      </p:sp>
      <p:sp>
        <p:nvSpPr>
          <p:cNvPr id="4" name="Text 2"/>
          <p:cNvSpPr/>
          <p:nvPr/>
        </p:nvSpPr>
        <p:spPr>
          <a:xfrm>
            <a:off x="7772400" y="4892040"/>
            <a:ext cx="1188720" cy="201168"/>
          </a:xfrm>
          <a:prstGeom prst="rect">
            <a:avLst/>
          </a:prstGeom>
          <a:noFill/>
          <a:ln/>
        </p:spPr>
        <p:txBody>
          <a:bodyPr wrap="square" rtlCol="0" anchor="ctr"/>
          <a:lstStyle/>
          <a:p>
            <a:pPr marL="0" indent="0" algn="r">
              <a:buNone/>
            </a:pPr>
            <a:endParaRPr lang="en-US" sz="900" dirty="0"/>
          </a:p>
        </p:txBody>
      </p:sp>
      <p:sp>
        <p:nvSpPr>
          <p:cNvPr id="5" name="Shape 3"/>
          <p:cNvSpPr/>
          <p:nvPr/>
        </p:nvSpPr>
        <p:spPr>
          <a:xfrm>
            <a:off x="228600" y="804672"/>
            <a:ext cx="2743200" cy="3291840"/>
          </a:xfrm>
          <a:prstGeom prst="rect">
            <a:avLst/>
          </a:prstGeom>
          <a:solidFill>
            <a:srgbClr val="F1F5F9"/>
          </a:solidFill>
          <a:ln w="25400">
            <a:solidFill>
              <a:srgbClr val="3498DB"/>
            </a:solidFill>
            <a:prstDash val="solid"/>
          </a:ln>
          <a:effectLst>
            <a:outerShdw blurRad="63500" dist="25400" dir="8100000" algn="bl" rotWithShape="0">
              <a:srgbClr val="000000">
                <a:alpha val="12000"/>
              </a:srgbClr>
            </a:outerShdw>
          </a:effectLst>
        </p:spPr>
      </p:sp>
      <p:sp>
        <p:nvSpPr>
          <p:cNvPr id="6" name="Shape 4"/>
          <p:cNvSpPr/>
          <p:nvPr/>
        </p:nvSpPr>
        <p:spPr>
          <a:xfrm>
            <a:off x="228600" y="804672"/>
            <a:ext cx="2743200" cy="457200"/>
          </a:xfrm>
          <a:prstGeom prst="rect">
            <a:avLst/>
          </a:prstGeom>
          <a:solidFill>
            <a:srgbClr val="3498DB"/>
          </a:solidFill>
          <a:ln w="12700">
            <a:solidFill>
              <a:srgbClr val="3498DB"/>
            </a:solidFill>
            <a:prstDash val="solid"/>
          </a:ln>
        </p:spPr>
      </p:sp>
      <p:sp>
        <p:nvSpPr>
          <p:cNvPr id="7" name="Text 5"/>
          <p:cNvSpPr/>
          <p:nvPr/>
        </p:nvSpPr>
        <p:spPr>
          <a:xfrm>
            <a:off x="228600" y="804672"/>
            <a:ext cx="2743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UNDERFITTING</a:t>
            </a:r>
            <a:endParaRPr lang="en-US" sz="1300" dirty="0"/>
          </a:p>
        </p:txBody>
      </p:sp>
      <p:sp>
        <p:nvSpPr>
          <p:cNvPr id="8" name="Text 6"/>
          <p:cNvSpPr/>
          <p:nvPr/>
        </p:nvSpPr>
        <p:spPr>
          <a:xfrm>
            <a:off x="320040" y="1325880"/>
            <a:ext cx="256032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C=0.0001 | 5 features</a:t>
            </a:r>
            <a:endParaRPr lang="en-US" sz="1000" dirty="0"/>
          </a:p>
        </p:txBody>
      </p:sp>
      <p:sp>
        <p:nvSpPr>
          <p:cNvPr id="9" name="Text 7"/>
          <p:cNvSpPr/>
          <p:nvPr/>
        </p:nvSpPr>
        <p:spPr>
          <a:xfrm>
            <a:off x="338328" y="1664208"/>
            <a:ext cx="118872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Train F1</a:t>
            </a:r>
            <a:endParaRPr lang="en-US" sz="1100" dirty="0"/>
          </a:p>
        </p:txBody>
      </p:sp>
      <p:sp>
        <p:nvSpPr>
          <p:cNvPr id="10" name="Text 8"/>
          <p:cNvSpPr/>
          <p:nvPr/>
        </p:nvSpPr>
        <p:spPr>
          <a:xfrm>
            <a:off x="1554480" y="1664208"/>
            <a:ext cx="1280160" cy="274320"/>
          </a:xfrm>
          <a:prstGeom prst="rect">
            <a:avLst/>
          </a:prstGeom>
          <a:noFill/>
          <a:ln/>
        </p:spPr>
        <p:txBody>
          <a:bodyPr wrap="square" rtlCol="0" anchor="ctr"/>
          <a:lstStyle/>
          <a:p>
            <a:pPr marL="0" indent="0" algn="r">
              <a:buNone/>
            </a:pPr>
            <a:r>
              <a:rPr lang="en-US" sz="1400" b="1" dirty="0">
                <a:solidFill>
                  <a:srgbClr val="3498DB"/>
                </a:solidFill>
                <a:latin typeface="Calibri" pitchFamily="34" charset="0"/>
                <a:ea typeface="Calibri" pitchFamily="34" charset="-122"/>
                <a:cs typeface="Calibri" pitchFamily="34" charset="-120"/>
              </a:rPr>
              <a:t>0.452</a:t>
            </a:r>
            <a:endParaRPr lang="en-US" sz="1400" dirty="0"/>
          </a:p>
        </p:txBody>
      </p:sp>
      <p:sp>
        <p:nvSpPr>
          <p:cNvPr id="11" name="Text 9"/>
          <p:cNvSpPr/>
          <p:nvPr/>
        </p:nvSpPr>
        <p:spPr>
          <a:xfrm>
            <a:off x="338328" y="2212848"/>
            <a:ext cx="118872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Test F1</a:t>
            </a:r>
            <a:endParaRPr lang="en-US" sz="1100" dirty="0"/>
          </a:p>
        </p:txBody>
      </p:sp>
      <p:sp>
        <p:nvSpPr>
          <p:cNvPr id="12" name="Text 10"/>
          <p:cNvSpPr/>
          <p:nvPr/>
        </p:nvSpPr>
        <p:spPr>
          <a:xfrm>
            <a:off x="1554480" y="2212848"/>
            <a:ext cx="1280160" cy="274320"/>
          </a:xfrm>
          <a:prstGeom prst="rect">
            <a:avLst/>
          </a:prstGeom>
          <a:noFill/>
          <a:ln/>
        </p:spPr>
        <p:txBody>
          <a:bodyPr wrap="square" rtlCol="0" anchor="ctr"/>
          <a:lstStyle/>
          <a:p>
            <a:pPr marL="0" indent="0" algn="r">
              <a:buNone/>
            </a:pPr>
            <a:r>
              <a:rPr lang="en-US" sz="1400" b="1" dirty="0">
                <a:solidFill>
                  <a:srgbClr val="3498DB"/>
                </a:solidFill>
                <a:latin typeface="Calibri" pitchFamily="34" charset="0"/>
                <a:ea typeface="Calibri" pitchFamily="34" charset="-122"/>
                <a:cs typeface="Calibri" pitchFamily="34" charset="-120"/>
              </a:rPr>
              <a:t>0.448</a:t>
            </a:r>
            <a:endParaRPr lang="en-US" sz="1400" dirty="0"/>
          </a:p>
        </p:txBody>
      </p:sp>
      <p:sp>
        <p:nvSpPr>
          <p:cNvPr id="13" name="Text 11"/>
          <p:cNvSpPr/>
          <p:nvPr/>
        </p:nvSpPr>
        <p:spPr>
          <a:xfrm>
            <a:off x="338328" y="2761488"/>
            <a:ext cx="118872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Gap</a:t>
            </a:r>
            <a:endParaRPr lang="en-US" sz="1100" dirty="0"/>
          </a:p>
        </p:txBody>
      </p:sp>
      <p:sp>
        <p:nvSpPr>
          <p:cNvPr id="14" name="Text 12"/>
          <p:cNvSpPr/>
          <p:nvPr/>
        </p:nvSpPr>
        <p:spPr>
          <a:xfrm>
            <a:off x="1554480" y="2761488"/>
            <a:ext cx="1280160" cy="274320"/>
          </a:xfrm>
          <a:prstGeom prst="rect">
            <a:avLst/>
          </a:prstGeom>
          <a:noFill/>
          <a:ln/>
        </p:spPr>
        <p:txBody>
          <a:bodyPr wrap="square" rtlCol="0" anchor="ctr"/>
          <a:lstStyle/>
          <a:p>
            <a:pPr marL="0" indent="0" algn="r">
              <a:buNone/>
            </a:pPr>
            <a:r>
              <a:rPr lang="en-US" sz="1400" b="1" dirty="0">
                <a:solidFill>
                  <a:srgbClr val="3498DB"/>
                </a:solidFill>
                <a:latin typeface="Calibri" pitchFamily="34" charset="0"/>
                <a:ea typeface="Calibri" pitchFamily="34" charset="-122"/>
                <a:cs typeface="Calibri" pitchFamily="34" charset="-120"/>
              </a:rPr>
              <a:t>~0%</a:t>
            </a:r>
            <a:endParaRPr lang="en-US" sz="1400" dirty="0"/>
          </a:p>
        </p:txBody>
      </p:sp>
      <p:sp>
        <p:nvSpPr>
          <p:cNvPr id="15" name="Shape 13"/>
          <p:cNvSpPr/>
          <p:nvPr/>
        </p:nvSpPr>
        <p:spPr>
          <a:xfrm>
            <a:off x="320040" y="3337560"/>
            <a:ext cx="2560320" cy="502920"/>
          </a:xfrm>
          <a:prstGeom prst="rect">
            <a:avLst/>
          </a:prstGeom>
          <a:solidFill>
            <a:srgbClr val="F1F5F9"/>
          </a:solidFill>
          <a:ln w="12700">
            <a:solidFill>
              <a:srgbClr val="3498DB"/>
            </a:solidFill>
            <a:prstDash val="solid"/>
          </a:ln>
        </p:spPr>
      </p:sp>
      <p:sp>
        <p:nvSpPr>
          <p:cNvPr id="16" name="Text 14"/>
          <p:cNvSpPr/>
          <p:nvPr/>
        </p:nvSpPr>
        <p:spPr>
          <a:xfrm>
            <a:off x="365760" y="3337560"/>
            <a:ext cx="2468880" cy="502920"/>
          </a:xfrm>
          <a:prstGeom prst="rect">
            <a:avLst/>
          </a:prstGeom>
          <a:noFill/>
          <a:ln/>
        </p:spPr>
        <p:txBody>
          <a:bodyPr wrap="square"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Model too constrained — high bias</a:t>
            </a:r>
            <a:endParaRPr lang="en-US" sz="1000" dirty="0"/>
          </a:p>
        </p:txBody>
      </p:sp>
      <p:sp>
        <p:nvSpPr>
          <p:cNvPr id="17" name="Shape 15"/>
          <p:cNvSpPr/>
          <p:nvPr/>
        </p:nvSpPr>
        <p:spPr>
          <a:xfrm>
            <a:off x="3154680" y="804672"/>
            <a:ext cx="2743200" cy="3291840"/>
          </a:xfrm>
          <a:prstGeom prst="rect">
            <a:avLst/>
          </a:prstGeom>
          <a:solidFill>
            <a:srgbClr val="F1F5F9"/>
          </a:solidFill>
          <a:ln w="25400">
            <a:solidFill>
              <a:srgbClr val="2E8B57"/>
            </a:solidFill>
            <a:prstDash val="solid"/>
          </a:ln>
          <a:effectLst>
            <a:outerShdw blurRad="63500" dist="25400" dir="8100000" algn="bl" rotWithShape="0">
              <a:srgbClr val="000000">
                <a:alpha val="12000"/>
              </a:srgbClr>
            </a:outerShdw>
          </a:effectLst>
        </p:spPr>
      </p:sp>
      <p:sp>
        <p:nvSpPr>
          <p:cNvPr id="18" name="Shape 16"/>
          <p:cNvSpPr/>
          <p:nvPr/>
        </p:nvSpPr>
        <p:spPr>
          <a:xfrm>
            <a:off x="3154680" y="804672"/>
            <a:ext cx="2743200" cy="457200"/>
          </a:xfrm>
          <a:prstGeom prst="rect">
            <a:avLst/>
          </a:prstGeom>
          <a:solidFill>
            <a:srgbClr val="2E8B57"/>
          </a:solidFill>
          <a:ln w="12700">
            <a:solidFill>
              <a:srgbClr val="2E8B57"/>
            </a:solidFill>
            <a:prstDash val="solid"/>
          </a:ln>
        </p:spPr>
      </p:sp>
      <p:sp>
        <p:nvSpPr>
          <p:cNvPr id="19" name="Text 17"/>
          <p:cNvSpPr/>
          <p:nvPr/>
        </p:nvSpPr>
        <p:spPr>
          <a:xfrm>
            <a:off x="3154680" y="804672"/>
            <a:ext cx="2743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GOOD FIT</a:t>
            </a:r>
            <a:endParaRPr lang="en-US" sz="1300" dirty="0"/>
          </a:p>
        </p:txBody>
      </p:sp>
      <p:sp>
        <p:nvSpPr>
          <p:cNvPr id="20" name="Text 18"/>
          <p:cNvSpPr/>
          <p:nvPr/>
        </p:nvSpPr>
        <p:spPr>
          <a:xfrm>
            <a:off x="3246120" y="1325880"/>
            <a:ext cx="256032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C=1.0 | 100 features</a:t>
            </a:r>
            <a:endParaRPr lang="en-US" sz="1000" dirty="0"/>
          </a:p>
        </p:txBody>
      </p:sp>
      <p:sp>
        <p:nvSpPr>
          <p:cNvPr id="21" name="Text 19"/>
          <p:cNvSpPr/>
          <p:nvPr/>
        </p:nvSpPr>
        <p:spPr>
          <a:xfrm>
            <a:off x="3264408" y="1664208"/>
            <a:ext cx="118872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Train F1</a:t>
            </a:r>
            <a:endParaRPr lang="en-US" sz="1100" dirty="0"/>
          </a:p>
        </p:txBody>
      </p:sp>
      <p:sp>
        <p:nvSpPr>
          <p:cNvPr id="22" name="Text 20"/>
          <p:cNvSpPr/>
          <p:nvPr/>
        </p:nvSpPr>
        <p:spPr>
          <a:xfrm>
            <a:off x="4480560" y="1664208"/>
            <a:ext cx="1280160" cy="274320"/>
          </a:xfrm>
          <a:prstGeom prst="rect">
            <a:avLst/>
          </a:prstGeom>
          <a:noFill/>
          <a:ln/>
        </p:spPr>
        <p:txBody>
          <a:bodyPr wrap="square" rtlCol="0" anchor="ctr"/>
          <a:lstStyle/>
          <a:p>
            <a:pPr marL="0" indent="0" algn="r">
              <a:buNone/>
            </a:pPr>
            <a:r>
              <a:rPr lang="en-US" sz="1400" b="1" dirty="0">
                <a:solidFill>
                  <a:srgbClr val="2E8B57"/>
                </a:solidFill>
                <a:latin typeface="Calibri" pitchFamily="34" charset="0"/>
                <a:ea typeface="Calibri" pitchFamily="34" charset="-122"/>
                <a:cs typeface="Calibri" pitchFamily="34" charset="-120"/>
              </a:rPr>
              <a:t>0.571</a:t>
            </a:r>
            <a:endParaRPr lang="en-US" sz="1400" dirty="0"/>
          </a:p>
        </p:txBody>
      </p:sp>
      <p:sp>
        <p:nvSpPr>
          <p:cNvPr id="23" name="Text 21"/>
          <p:cNvSpPr/>
          <p:nvPr/>
        </p:nvSpPr>
        <p:spPr>
          <a:xfrm>
            <a:off x="3264408" y="2212848"/>
            <a:ext cx="118872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Test F1</a:t>
            </a:r>
            <a:endParaRPr lang="en-US" sz="1100" dirty="0"/>
          </a:p>
        </p:txBody>
      </p:sp>
      <p:sp>
        <p:nvSpPr>
          <p:cNvPr id="24" name="Text 22"/>
          <p:cNvSpPr/>
          <p:nvPr/>
        </p:nvSpPr>
        <p:spPr>
          <a:xfrm>
            <a:off x="4480560" y="2212848"/>
            <a:ext cx="1280160" cy="274320"/>
          </a:xfrm>
          <a:prstGeom prst="rect">
            <a:avLst/>
          </a:prstGeom>
          <a:noFill/>
          <a:ln/>
        </p:spPr>
        <p:txBody>
          <a:bodyPr wrap="square" rtlCol="0" anchor="ctr"/>
          <a:lstStyle/>
          <a:p>
            <a:pPr marL="0" indent="0" algn="r">
              <a:buNone/>
            </a:pPr>
            <a:r>
              <a:rPr lang="en-US" sz="1400" b="1" dirty="0">
                <a:solidFill>
                  <a:srgbClr val="2E8B57"/>
                </a:solidFill>
                <a:latin typeface="Calibri" pitchFamily="34" charset="0"/>
                <a:ea typeface="Calibri" pitchFamily="34" charset="-122"/>
                <a:cs typeface="Calibri" pitchFamily="34" charset="-120"/>
              </a:rPr>
              <a:t>0.567</a:t>
            </a:r>
            <a:endParaRPr lang="en-US" sz="1400" dirty="0"/>
          </a:p>
        </p:txBody>
      </p:sp>
      <p:sp>
        <p:nvSpPr>
          <p:cNvPr id="25" name="Text 23"/>
          <p:cNvSpPr/>
          <p:nvPr/>
        </p:nvSpPr>
        <p:spPr>
          <a:xfrm>
            <a:off x="3264408" y="2761488"/>
            <a:ext cx="118872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Gap</a:t>
            </a:r>
            <a:endParaRPr lang="en-US" sz="1100" dirty="0"/>
          </a:p>
        </p:txBody>
      </p:sp>
      <p:sp>
        <p:nvSpPr>
          <p:cNvPr id="26" name="Text 24"/>
          <p:cNvSpPr/>
          <p:nvPr/>
        </p:nvSpPr>
        <p:spPr>
          <a:xfrm>
            <a:off x="4480560" y="2761488"/>
            <a:ext cx="1280160" cy="274320"/>
          </a:xfrm>
          <a:prstGeom prst="rect">
            <a:avLst/>
          </a:prstGeom>
          <a:noFill/>
          <a:ln/>
        </p:spPr>
        <p:txBody>
          <a:bodyPr wrap="square" rtlCol="0" anchor="ctr"/>
          <a:lstStyle/>
          <a:p>
            <a:pPr marL="0" indent="0" algn="r">
              <a:buNone/>
            </a:pPr>
            <a:r>
              <a:rPr lang="en-US" sz="1400" b="1" dirty="0">
                <a:solidFill>
                  <a:srgbClr val="2E8B57"/>
                </a:solidFill>
                <a:latin typeface="Calibri" pitchFamily="34" charset="0"/>
                <a:ea typeface="Calibri" pitchFamily="34" charset="-122"/>
                <a:cs typeface="Calibri" pitchFamily="34" charset="-120"/>
              </a:rPr>
              <a:t>&lt;1%</a:t>
            </a:r>
            <a:endParaRPr lang="en-US" sz="1400" dirty="0"/>
          </a:p>
        </p:txBody>
      </p:sp>
      <p:sp>
        <p:nvSpPr>
          <p:cNvPr id="27" name="Shape 25"/>
          <p:cNvSpPr/>
          <p:nvPr/>
        </p:nvSpPr>
        <p:spPr>
          <a:xfrm>
            <a:off x="3246120" y="3337560"/>
            <a:ext cx="2560320" cy="502920"/>
          </a:xfrm>
          <a:prstGeom prst="rect">
            <a:avLst/>
          </a:prstGeom>
          <a:solidFill>
            <a:srgbClr val="F1F5F9"/>
          </a:solidFill>
          <a:ln w="12700">
            <a:solidFill>
              <a:srgbClr val="2E8B57"/>
            </a:solidFill>
            <a:prstDash val="solid"/>
          </a:ln>
        </p:spPr>
      </p:sp>
      <p:sp>
        <p:nvSpPr>
          <p:cNvPr id="28" name="Text 26"/>
          <p:cNvSpPr/>
          <p:nvPr/>
        </p:nvSpPr>
        <p:spPr>
          <a:xfrm>
            <a:off x="3291840" y="3337560"/>
            <a:ext cx="2468880" cy="502920"/>
          </a:xfrm>
          <a:prstGeom prst="rect">
            <a:avLst/>
          </a:prstGeom>
          <a:noFill/>
          <a:ln/>
        </p:spPr>
        <p:txBody>
          <a:bodyPr wrap="square"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Balanced regularization — optimal</a:t>
            </a:r>
            <a:endParaRPr lang="en-US" sz="1000" dirty="0"/>
          </a:p>
        </p:txBody>
      </p:sp>
      <p:sp>
        <p:nvSpPr>
          <p:cNvPr id="29" name="Shape 27"/>
          <p:cNvSpPr/>
          <p:nvPr/>
        </p:nvSpPr>
        <p:spPr>
          <a:xfrm>
            <a:off x="6080760" y="804672"/>
            <a:ext cx="2743200" cy="3291840"/>
          </a:xfrm>
          <a:prstGeom prst="rect">
            <a:avLst/>
          </a:prstGeom>
          <a:solidFill>
            <a:srgbClr val="F1F5F9"/>
          </a:solidFill>
          <a:ln w="25400">
            <a:solidFill>
              <a:srgbClr val="C0392B"/>
            </a:solidFill>
            <a:prstDash val="solid"/>
          </a:ln>
          <a:effectLst>
            <a:outerShdw blurRad="63500" dist="25400" dir="8100000" algn="bl" rotWithShape="0">
              <a:srgbClr val="000000">
                <a:alpha val="12000"/>
              </a:srgbClr>
            </a:outerShdw>
          </a:effectLst>
        </p:spPr>
      </p:sp>
      <p:sp>
        <p:nvSpPr>
          <p:cNvPr id="30" name="Shape 28"/>
          <p:cNvSpPr/>
          <p:nvPr/>
        </p:nvSpPr>
        <p:spPr>
          <a:xfrm>
            <a:off x="6080760" y="804672"/>
            <a:ext cx="2743200" cy="457200"/>
          </a:xfrm>
          <a:prstGeom prst="rect">
            <a:avLst/>
          </a:prstGeom>
          <a:solidFill>
            <a:srgbClr val="C0392B"/>
          </a:solidFill>
          <a:ln w="12700">
            <a:solidFill>
              <a:srgbClr val="C0392B"/>
            </a:solidFill>
            <a:prstDash val="solid"/>
          </a:ln>
        </p:spPr>
      </p:sp>
      <p:sp>
        <p:nvSpPr>
          <p:cNvPr id="31" name="Text 29"/>
          <p:cNvSpPr/>
          <p:nvPr/>
        </p:nvSpPr>
        <p:spPr>
          <a:xfrm>
            <a:off x="6080760" y="804672"/>
            <a:ext cx="2743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OVERFITTING</a:t>
            </a:r>
            <a:endParaRPr lang="en-US" sz="1300" dirty="0"/>
          </a:p>
        </p:txBody>
      </p:sp>
      <p:sp>
        <p:nvSpPr>
          <p:cNvPr id="32" name="Text 30"/>
          <p:cNvSpPr/>
          <p:nvPr/>
        </p:nvSpPr>
        <p:spPr>
          <a:xfrm>
            <a:off x="6172200" y="1325880"/>
            <a:ext cx="256032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C=1M | 512 features</a:t>
            </a:r>
            <a:endParaRPr lang="en-US" sz="1000" dirty="0"/>
          </a:p>
        </p:txBody>
      </p:sp>
      <p:sp>
        <p:nvSpPr>
          <p:cNvPr id="33" name="Text 31"/>
          <p:cNvSpPr/>
          <p:nvPr/>
        </p:nvSpPr>
        <p:spPr>
          <a:xfrm>
            <a:off x="6190488" y="1664208"/>
            <a:ext cx="118872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Train F1</a:t>
            </a:r>
            <a:endParaRPr lang="en-US" sz="1100" dirty="0"/>
          </a:p>
        </p:txBody>
      </p:sp>
      <p:sp>
        <p:nvSpPr>
          <p:cNvPr id="34" name="Text 32"/>
          <p:cNvSpPr/>
          <p:nvPr/>
        </p:nvSpPr>
        <p:spPr>
          <a:xfrm>
            <a:off x="7406640" y="1664208"/>
            <a:ext cx="1280160" cy="274320"/>
          </a:xfrm>
          <a:prstGeom prst="rect">
            <a:avLst/>
          </a:prstGeom>
          <a:noFill/>
          <a:ln/>
        </p:spPr>
        <p:txBody>
          <a:bodyPr wrap="square" rtlCol="0" anchor="ctr"/>
          <a:lstStyle/>
          <a:p>
            <a:pPr marL="0" indent="0" algn="r">
              <a:buNone/>
            </a:pPr>
            <a:r>
              <a:rPr lang="en-US" sz="1400" b="1" dirty="0">
                <a:solidFill>
                  <a:srgbClr val="C0392B"/>
                </a:solidFill>
                <a:latin typeface="Calibri" pitchFamily="34" charset="0"/>
                <a:ea typeface="Calibri" pitchFamily="34" charset="-122"/>
                <a:cs typeface="Calibri" pitchFamily="34" charset="-120"/>
              </a:rPr>
              <a:t>0.893</a:t>
            </a:r>
            <a:endParaRPr lang="en-US" sz="1400" dirty="0"/>
          </a:p>
        </p:txBody>
      </p:sp>
      <p:sp>
        <p:nvSpPr>
          <p:cNvPr id="35" name="Text 33"/>
          <p:cNvSpPr/>
          <p:nvPr/>
        </p:nvSpPr>
        <p:spPr>
          <a:xfrm>
            <a:off x="6190488" y="2212848"/>
            <a:ext cx="118872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Test F1</a:t>
            </a:r>
            <a:endParaRPr lang="en-US" sz="1100" dirty="0"/>
          </a:p>
        </p:txBody>
      </p:sp>
      <p:sp>
        <p:nvSpPr>
          <p:cNvPr id="36" name="Text 34"/>
          <p:cNvSpPr/>
          <p:nvPr/>
        </p:nvSpPr>
        <p:spPr>
          <a:xfrm>
            <a:off x="7406640" y="2212848"/>
            <a:ext cx="1280160" cy="274320"/>
          </a:xfrm>
          <a:prstGeom prst="rect">
            <a:avLst/>
          </a:prstGeom>
          <a:noFill/>
          <a:ln/>
        </p:spPr>
        <p:txBody>
          <a:bodyPr wrap="square" rtlCol="0" anchor="ctr"/>
          <a:lstStyle/>
          <a:p>
            <a:pPr marL="0" indent="0" algn="r">
              <a:buNone/>
            </a:pPr>
            <a:r>
              <a:rPr lang="en-US" sz="1400" b="1" dirty="0">
                <a:solidFill>
                  <a:srgbClr val="C0392B"/>
                </a:solidFill>
                <a:latin typeface="Calibri" pitchFamily="34" charset="0"/>
                <a:ea typeface="Calibri" pitchFamily="34" charset="-122"/>
                <a:cs typeface="Calibri" pitchFamily="34" charset="-120"/>
              </a:rPr>
              <a:t>0.512</a:t>
            </a:r>
            <a:endParaRPr lang="en-US" sz="1400" dirty="0"/>
          </a:p>
        </p:txBody>
      </p:sp>
      <p:sp>
        <p:nvSpPr>
          <p:cNvPr id="37" name="Text 35"/>
          <p:cNvSpPr/>
          <p:nvPr/>
        </p:nvSpPr>
        <p:spPr>
          <a:xfrm>
            <a:off x="6190488" y="2761488"/>
            <a:ext cx="118872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Gap</a:t>
            </a:r>
            <a:endParaRPr lang="en-US" sz="1100" dirty="0"/>
          </a:p>
        </p:txBody>
      </p:sp>
      <p:sp>
        <p:nvSpPr>
          <p:cNvPr id="38" name="Text 36"/>
          <p:cNvSpPr/>
          <p:nvPr/>
        </p:nvSpPr>
        <p:spPr>
          <a:xfrm>
            <a:off x="7406640" y="2761488"/>
            <a:ext cx="1280160" cy="274320"/>
          </a:xfrm>
          <a:prstGeom prst="rect">
            <a:avLst/>
          </a:prstGeom>
          <a:noFill/>
          <a:ln/>
        </p:spPr>
        <p:txBody>
          <a:bodyPr wrap="square" rtlCol="0" anchor="ctr"/>
          <a:lstStyle/>
          <a:p>
            <a:pPr marL="0" indent="0" algn="r">
              <a:buNone/>
            </a:pPr>
            <a:r>
              <a:rPr lang="en-US" sz="1400" b="1" dirty="0">
                <a:solidFill>
                  <a:srgbClr val="C0392B"/>
                </a:solidFill>
                <a:latin typeface="Calibri" pitchFamily="34" charset="0"/>
                <a:ea typeface="Calibri" pitchFamily="34" charset="-122"/>
                <a:cs typeface="Calibri" pitchFamily="34" charset="-120"/>
              </a:rPr>
              <a:t>38%</a:t>
            </a:r>
            <a:endParaRPr lang="en-US" sz="1400" dirty="0"/>
          </a:p>
        </p:txBody>
      </p:sp>
      <p:sp>
        <p:nvSpPr>
          <p:cNvPr id="39" name="Shape 37"/>
          <p:cNvSpPr/>
          <p:nvPr/>
        </p:nvSpPr>
        <p:spPr>
          <a:xfrm>
            <a:off x="6172200" y="3337560"/>
            <a:ext cx="2560320" cy="502920"/>
          </a:xfrm>
          <a:prstGeom prst="rect">
            <a:avLst/>
          </a:prstGeom>
          <a:solidFill>
            <a:srgbClr val="F1F5F9"/>
          </a:solidFill>
          <a:ln w="12700">
            <a:solidFill>
              <a:srgbClr val="C0392B"/>
            </a:solidFill>
            <a:prstDash val="solid"/>
          </a:ln>
        </p:spPr>
      </p:sp>
      <p:sp>
        <p:nvSpPr>
          <p:cNvPr id="40" name="Text 38"/>
          <p:cNvSpPr/>
          <p:nvPr/>
        </p:nvSpPr>
        <p:spPr>
          <a:xfrm>
            <a:off x="6217920" y="3337560"/>
            <a:ext cx="2468880" cy="502920"/>
          </a:xfrm>
          <a:prstGeom prst="rect">
            <a:avLst/>
          </a:prstGeom>
          <a:noFill/>
          <a:ln/>
        </p:spPr>
        <p:txBody>
          <a:bodyPr wrap="square"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No regularization — memorizes noise</a:t>
            </a:r>
            <a:endParaRPr lang="en-US" sz="1000" dirty="0"/>
          </a:p>
        </p:txBody>
      </p:sp>
      <p:sp>
        <p:nvSpPr>
          <p:cNvPr id="41" name="Shape 39"/>
          <p:cNvSpPr/>
          <p:nvPr/>
        </p:nvSpPr>
        <p:spPr>
          <a:xfrm>
            <a:off x="274320" y="4480560"/>
            <a:ext cx="8595360" cy="457200"/>
          </a:xfrm>
          <a:prstGeom prst="rect">
            <a:avLst/>
          </a:prstGeom>
          <a:solidFill>
            <a:srgbClr val="FFF3EE"/>
          </a:solidFill>
          <a:ln w="25400">
            <a:solidFill>
              <a:srgbClr val="FF6B35"/>
            </a:solidFill>
            <a:prstDash val="solid"/>
          </a:ln>
        </p:spPr>
      </p:sp>
      <p:sp>
        <p:nvSpPr>
          <p:cNvPr id="42" name="Shape 40"/>
          <p:cNvSpPr/>
          <p:nvPr/>
        </p:nvSpPr>
        <p:spPr>
          <a:xfrm>
            <a:off x="274320" y="4480560"/>
            <a:ext cx="64008" cy="457200"/>
          </a:xfrm>
          <a:prstGeom prst="rect">
            <a:avLst/>
          </a:prstGeom>
          <a:solidFill>
            <a:srgbClr val="FF6B35"/>
          </a:solidFill>
          <a:ln w="12700">
            <a:solidFill>
              <a:srgbClr val="FF6B35"/>
            </a:solidFill>
            <a:prstDash val="solid"/>
          </a:ln>
        </p:spPr>
      </p:sp>
      <p:sp>
        <p:nvSpPr>
          <p:cNvPr id="43" name="Text 41"/>
          <p:cNvSpPr/>
          <p:nvPr/>
        </p:nvSpPr>
        <p:spPr>
          <a:xfrm>
            <a:off x="411480" y="4480560"/>
            <a:ext cx="8412480" cy="457200"/>
          </a:xfrm>
          <a:prstGeom prst="rect">
            <a:avLst/>
          </a:prstGeom>
          <a:noFill/>
          <a:ln/>
        </p:spPr>
        <p:txBody>
          <a:bodyPr wrap="square" rtlCol="0" anchor="ctr"/>
          <a:lstStyle/>
          <a:p>
            <a:pPr marL="0" indent="0">
              <a:buNone/>
            </a:pPr>
            <a:r>
              <a:rPr lang="en-US" sz="1200" b="1" dirty="0">
                <a:solidFill>
                  <a:srgbClr val="7A2700"/>
                </a:solidFill>
                <a:latin typeface="Calibri" pitchFamily="34" charset="0"/>
                <a:ea typeface="Calibri" pitchFamily="34" charset="-122"/>
                <a:cs typeface="Calibri" pitchFamily="34" charset="-120"/>
              </a:rPr>
              <a:t>Regularization is essential — without it, the model perfectly fits training data but fails on unseen EEG segments (38% train-test F1 gap)</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w="12700">
            <a:solidFill>
              <a:srgbClr val="1F3864"/>
            </a:solidFill>
            <a:prstDash val="solid"/>
          </a:ln>
        </p:spPr>
      </p:sp>
      <p:sp>
        <p:nvSpPr>
          <p:cNvPr id="3" name="Text 1"/>
          <p:cNvSpPr/>
          <p:nvPr/>
        </p:nvSpPr>
        <p:spPr>
          <a:xfrm>
            <a:off x="320040" y="36576"/>
            <a:ext cx="8503920" cy="61264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Regularization Study: L1 vs L2 vs Elastic Net</a:t>
            </a:r>
            <a:endParaRPr lang="en-US" sz="2200" dirty="0"/>
          </a:p>
        </p:txBody>
      </p:sp>
      <p:sp>
        <p:nvSpPr>
          <p:cNvPr id="4" name="Text 2"/>
          <p:cNvSpPr/>
          <p:nvPr/>
        </p:nvSpPr>
        <p:spPr>
          <a:xfrm>
            <a:off x="7772400" y="4892040"/>
            <a:ext cx="1188720" cy="201168"/>
          </a:xfrm>
          <a:prstGeom prst="rect">
            <a:avLst/>
          </a:prstGeom>
          <a:noFill/>
          <a:ln/>
        </p:spPr>
        <p:txBody>
          <a:bodyPr wrap="square" rtlCol="0" anchor="ctr"/>
          <a:lstStyle/>
          <a:p>
            <a:pPr marL="0" indent="0" algn="r">
              <a:buNone/>
            </a:pP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868680"/>
          <a:ext cx="8595360" cy="1198880"/>
        </p:xfrm>
        <a:graphic>
          <a:graphicData uri="http://schemas.openxmlformats.org/drawingml/2006/table">
            <a:tbl>
              <a:tblPr/>
              <a:tblGrid>
                <a:gridCol w="16459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Dataset</a:t>
                      </a:r>
                      <a:endParaRPr lang="en-US" sz="13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L1 (Lasso)</a:t>
                      </a:r>
                      <a:endParaRPr lang="en-US" sz="13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L2 (Ridge)</a:t>
                      </a:r>
                      <a:endParaRPr lang="en-US" sz="13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Elastic Net</a:t>
                      </a:r>
                      <a:endParaRPr lang="en-US" sz="13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Winner</a:t>
                      </a:r>
                      <a:endParaRPr lang="en-US" sz="13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0">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D1 (1:1)</a:t>
                      </a:r>
                      <a:endParaRPr lang="en-US" sz="13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0.9987</a:t>
                      </a:r>
                      <a:endParaRPr lang="en-US" sz="13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0.9979</a:t>
                      </a:r>
                      <a:endParaRPr lang="en-US" sz="13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0.9983</a:t>
                      </a:r>
                      <a:endParaRPr lang="en-US" sz="13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L1 (Lasso)</a:t>
                      </a:r>
                      <a:endParaRPr lang="en-US" sz="13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extLst>
                  <a:ext uri="{0D108BD9-81ED-4DB2-BD59-A6C34878D82A}">
                    <a16:rowId xmlns:a16="http://schemas.microsoft.com/office/drawing/2014/main" val="10001"/>
                  </a:ext>
                </a:extLst>
              </a:tr>
              <a:tr h="0">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D2 (2:1)</a:t>
                      </a:r>
                      <a:endParaRPr lang="en-US" sz="13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0.9571</a:t>
                      </a:r>
                      <a:endParaRPr lang="en-US" sz="13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0.9509</a:t>
                      </a:r>
                      <a:endParaRPr lang="en-US" sz="13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0.9495</a:t>
                      </a:r>
                      <a:endParaRPr lang="en-US" sz="13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L1 (Lasso)</a:t>
                      </a:r>
                      <a:endParaRPr lang="en-US" sz="13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D3 (4:1)</a:t>
                      </a:r>
                      <a:endParaRPr lang="en-US" sz="13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0.9366</a:t>
                      </a:r>
                      <a:endParaRPr lang="en-US" sz="13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0.9271</a:t>
                      </a:r>
                      <a:endParaRPr lang="en-US" sz="13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0.9288</a:t>
                      </a:r>
                      <a:endParaRPr lang="en-US" sz="13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L1 (Lasso)</a:t>
                      </a:r>
                      <a:endParaRPr lang="en-US" sz="13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extLst>
                  <a:ext uri="{0D108BD9-81ED-4DB2-BD59-A6C34878D82A}">
                    <a16:rowId xmlns:a16="http://schemas.microsoft.com/office/drawing/2014/main" val="10003"/>
                  </a:ext>
                </a:extLst>
              </a:tr>
            </a:tbl>
          </a:graphicData>
        </a:graphic>
      </p:graphicFrame>
      <p:sp>
        <p:nvSpPr>
          <p:cNvPr id="6" name="Shape 3"/>
          <p:cNvSpPr/>
          <p:nvPr/>
        </p:nvSpPr>
        <p:spPr>
          <a:xfrm>
            <a:off x="274320" y="2697480"/>
            <a:ext cx="2743200" cy="1600200"/>
          </a:xfrm>
          <a:prstGeom prst="rect">
            <a:avLst/>
          </a:prstGeom>
          <a:solidFill>
            <a:srgbClr val="F1F5F9"/>
          </a:solidFill>
          <a:ln w="25400">
            <a:solidFill>
              <a:srgbClr val="1F3864"/>
            </a:solidFill>
            <a:prstDash val="solid"/>
          </a:ln>
          <a:effectLst>
            <a:outerShdw blurRad="63500" dist="25400" dir="8100000" algn="bl" rotWithShape="0">
              <a:srgbClr val="000000">
                <a:alpha val="12000"/>
              </a:srgbClr>
            </a:outerShdw>
          </a:effectLst>
        </p:spPr>
      </p:sp>
      <p:sp>
        <p:nvSpPr>
          <p:cNvPr id="7" name="Shape 4"/>
          <p:cNvSpPr/>
          <p:nvPr/>
        </p:nvSpPr>
        <p:spPr>
          <a:xfrm>
            <a:off x="274320" y="2697480"/>
            <a:ext cx="2743200" cy="347472"/>
          </a:xfrm>
          <a:prstGeom prst="rect">
            <a:avLst/>
          </a:prstGeom>
          <a:solidFill>
            <a:srgbClr val="1F3864"/>
          </a:solidFill>
          <a:ln w="12700">
            <a:solidFill>
              <a:srgbClr val="1F3864"/>
            </a:solidFill>
            <a:prstDash val="solid"/>
          </a:ln>
        </p:spPr>
      </p:sp>
      <p:sp>
        <p:nvSpPr>
          <p:cNvPr id="8" name="Text 5"/>
          <p:cNvSpPr/>
          <p:nvPr/>
        </p:nvSpPr>
        <p:spPr>
          <a:xfrm>
            <a:off x="274320" y="2697480"/>
            <a:ext cx="274320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L1 (Lasso)</a:t>
            </a:r>
            <a:endParaRPr lang="en-US" sz="1200" dirty="0"/>
          </a:p>
        </p:txBody>
      </p:sp>
      <p:sp>
        <p:nvSpPr>
          <p:cNvPr id="5" name="Text 6"/>
          <p:cNvSpPr/>
          <p:nvPr/>
        </p:nvSpPr>
        <p:spPr>
          <a:xfrm>
            <a:off x="365760" y="3090672"/>
            <a:ext cx="2560320" cy="1143000"/>
          </a:xfrm>
          <a:prstGeom prst="rect">
            <a:avLst/>
          </a:prstGeom>
          <a:noFill/>
          <a:ln/>
        </p:spPr>
        <p:txBody>
          <a:bodyPr wrap="square" rtlCol="0" anchor="t"/>
          <a:lstStyle/>
          <a:p>
            <a:pPr marL="0" indent="0">
              <a:buNone/>
            </a:pPr>
            <a:r>
              <a:rPr lang="en-US" sz="1000" dirty="0">
                <a:solidFill>
                  <a:srgbClr val="1E293B"/>
                </a:solidFill>
                <a:latin typeface="Calibri" pitchFamily="34" charset="0"/>
                <a:ea typeface="Calibri" pitchFamily="34" charset="-122"/>
                <a:cs typeface="Calibri" pitchFamily="34" charset="-120"/>
              </a:rPr>
              <a:t>Wins on ALL 3 datasets. Sparsity zeroes out least-informative PCA components — automatic embedded feature selection.</a:t>
            </a:r>
            <a:endParaRPr lang="en-US" sz="1000" dirty="0"/>
          </a:p>
        </p:txBody>
      </p:sp>
      <p:sp>
        <p:nvSpPr>
          <p:cNvPr id="10" name="Shape 7"/>
          <p:cNvSpPr/>
          <p:nvPr/>
        </p:nvSpPr>
        <p:spPr>
          <a:xfrm>
            <a:off x="3154680" y="2697480"/>
            <a:ext cx="2743200" cy="1600200"/>
          </a:xfrm>
          <a:prstGeom prst="rect">
            <a:avLst/>
          </a:prstGeom>
          <a:solidFill>
            <a:srgbClr val="F1F5F9"/>
          </a:solidFill>
          <a:ln w="25400">
            <a:solidFill>
              <a:srgbClr val="2980B9"/>
            </a:solidFill>
            <a:prstDash val="solid"/>
          </a:ln>
          <a:effectLst>
            <a:outerShdw blurRad="63500" dist="25400" dir="8100000" algn="bl" rotWithShape="0">
              <a:srgbClr val="000000">
                <a:alpha val="12000"/>
              </a:srgbClr>
            </a:outerShdw>
          </a:effectLst>
        </p:spPr>
      </p:sp>
      <p:sp>
        <p:nvSpPr>
          <p:cNvPr id="11" name="Shape 8"/>
          <p:cNvSpPr/>
          <p:nvPr/>
        </p:nvSpPr>
        <p:spPr>
          <a:xfrm>
            <a:off x="3154680" y="2697480"/>
            <a:ext cx="2743200" cy="347472"/>
          </a:xfrm>
          <a:prstGeom prst="rect">
            <a:avLst/>
          </a:prstGeom>
          <a:solidFill>
            <a:srgbClr val="2980B9"/>
          </a:solidFill>
          <a:ln w="12700">
            <a:solidFill>
              <a:srgbClr val="2980B9"/>
            </a:solidFill>
            <a:prstDash val="solid"/>
          </a:ln>
        </p:spPr>
      </p:sp>
      <p:sp>
        <p:nvSpPr>
          <p:cNvPr id="12" name="Text 9"/>
          <p:cNvSpPr/>
          <p:nvPr/>
        </p:nvSpPr>
        <p:spPr>
          <a:xfrm>
            <a:off x="3154680" y="2697480"/>
            <a:ext cx="274320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L2 (Ridge)</a:t>
            </a:r>
            <a:endParaRPr lang="en-US" sz="1200" dirty="0"/>
          </a:p>
        </p:txBody>
      </p:sp>
      <p:sp>
        <p:nvSpPr>
          <p:cNvPr id="13" name="Text 10"/>
          <p:cNvSpPr/>
          <p:nvPr/>
        </p:nvSpPr>
        <p:spPr>
          <a:xfrm>
            <a:off x="3246120" y="3090672"/>
            <a:ext cx="2560320" cy="1143000"/>
          </a:xfrm>
          <a:prstGeom prst="rect">
            <a:avLst/>
          </a:prstGeom>
          <a:noFill/>
          <a:ln/>
        </p:spPr>
        <p:txBody>
          <a:bodyPr wrap="square" rtlCol="0" anchor="t"/>
          <a:lstStyle/>
          <a:p>
            <a:pPr marL="0" indent="0">
              <a:buNone/>
            </a:pPr>
            <a:r>
              <a:rPr lang="en-US" sz="1000" dirty="0">
                <a:solidFill>
                  <a:srgbClr val="1E293B"/>
                </a:solidFill>
                <a:latin typeface="Calibri" pitchFamily="34" charset="0"/>
                <a:ea typeface="Calibri" pitchFamily="34" charset="-122"/>
                <a:cs typeface="Calibri" pitchFamily="34" charset="-120"/>
              </a:rPr>
              <a:t>Most stable across C range. Safe default when optimal hyperparameters unknown. Retains all 15 features equally.</a:t>
            </a:r>
            <a:endParaRPr lang="en-US" sz="1000" dirty="0"/>
          </a:p>
        </p:txBody>
      </p:sp>
      <p:sp>
        <p:nvSpPr>
          <p:cNvPr id="14" name="Shape 11"/>
          <p:cNvSpPr/>
          <p:nvPr/>
        </p:nvSpPr>
        <p:spPr>
          <a:xfrm>
            <a:off x="6035040" y="2697480"/>
            <a:ext cx="2743200" cy="1600200"/>
          </a:xfrm>
          <a:prstGeom prst="rect">
            <a:avLst/>
          </a:prstGeom>
          <a:solidFill>
            <a:srgbClr val="F1F5F9"/>
          </a:solidFill>
          <a:ln w="25400">
            <a:solidFill>
              <a:srgbClr val="64748B"/>
            </a:solidFill>
            <a:prstDash val="solid"/>
          </a:ln>
          <a:effectLst>
            <a:outerShdw blurRad="63500" dist="25400" dir="8100000" algn="bl" rotWithShape="0">
              <a:srgbClr val="000000">
                <a:alpha val="12000"/>
              </a:srgbClr>
            </a:outerShdw>
          </a:effectLst>
        </p:spPr>
      </p:sp>
      <p:sp>
        <p:nvSpPr>
          <p:cNvPr id="15" name="Shape 12"/>
          <p:cNvSpPr/>
          <p:nvPr/>
        </p:nvSpPr>
        <p:spPr>
          <a:xfrm>
            <a:off x="6035040" y="2697480"/>
            <a:ext cx="2743200" cy="347472"/>
          </a:xfrm>
          <a:prstGeom prst="rect">
            <a:avLst/>
          </a:prstGeom>
          <a:solidFill>
            <a:srgbClr val="64748B"/>
          </a:solidFill>
          <a:ln w="12700">
            <a:solidFill>
              <a:srgbClr val="64748B"/>
            </a:solidFill>
            <a:prstDash val="solid"/>
          </a:ln>
        </p:spPr>
      </p:sp>
      <p:sp>
        <p:nvSpPr>
          <p:cNvPr id="16" name="Text 13"/>
          <p:cNvSpPr/>
          <p:nvPr/>
        </p:nvSpPr>
        <p:spPr>
          <a:xfrm>
            <a:off x="6035040" y="2697480"/>
            <a:ext cx="274320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Elastic Net</a:t>
            </a:r>
            <a:endParaRPr lang="en-US" sz="1200" dirty="0"/>
          </a:p>
        </p:txBody>
      </p:sp>
      <p:sp>
        <p:nvSpPr>
          <p:cNvPr id="17" name="Text 14"/>
          <p:cNvSpPr/>
          <p:nvPr/>
        </p:nvSpPr>
        <p:spPr>
          <a:xfrm>
            <a:off x="6126480" y="3090672"/>
            <a:ext cx="2560320" cy="1143000"/>
          </a:xfrm>
          <a:prstGeom prst="rect">
            <a:avLst/>
          </a:prstGeom>
          <a:noFill/>
          <a:ln/>
        </p:spPr>
        <p:txBody>
          <a:bodyPr wrap="square" rtlCol="0" anchor="t"/>
          <a:lstStyle/>
          <a:p>
            <a:pPr marL="0" indent="0">
              <a:buNone/>
            </a:pPr>
            <a:r>
              <a:rPr lang="en-US" sz="1000" dirty="0">
                <a:solidFill>
                  <a:srgbClr val="1E293B"/>
                </a:solidFill>
                <a:latin typeface="Calibri" pitchFamily="34" charset="0"/>
                <a:ea typeface="Calibri" pitchFamily="34" charset="-122"/>
                <a:cs typeface="Calibri" pitchFamily="34" charset="-120"/>
              </a:rPr>
              <a:t>Does NOT consistently outperform. PCA orthogonalization removes correlations — Elastic Net's grouping effect provides no benefit here.</a:t>
            </a:r>
            <a:endParaRPr lang="en-US" sz="1000" dirty="0"/>
          </a:p>
        </p:txBody>
      </p:sp>
      <p:sp>
        <p:nvSpPr>
          <p:cNvPr id="18" name="Shape 15"/>
          <p:cNvSpPr/>
          <p:nvPr/>
        </p:nvSpPr>
        <p:spPr>
          <a:xfrm>
            <a:off x="274320" y="4462272"/>
            <a:ext cx="8595360" cy="457200"/>
          </a:xfrm>
          <a:prstGeom prst="rect">
            <a:avLst/>
          </a:prstGeom>
          <a:solidFill>
            <a:srgbClr val="FFF3EE"/>
          </a:solidFill>
          <a:ln w="25400">
            <a:solidFill>
              <a:srgbClr val="FF6B35"/>
            </a:solidFill>
            <a:prstDash val="solid"/>
          </a:ln>
        </p:spPr>
      </p:sp>
      <p:sp>
        <p:nvSpPr>
          <p:cNvPr id="19" name="Shape 16"/>
          <p:cNvSpPr/>
          <p:nvPr/>
        </p:nvSpPr>
        <p:spPr>
          <a:xfrm>
            <a:off x="274320" y="4462272"/>
            <a:ext cx="64008" cy="457200"/>
          </a:xfrm>
          <a:prstGeom prst="rect">
            <a:avLst/>
          </a:prstGeom>
          <a:solidFill>
            <a:srgbClr val="FF6B35"/>
          </a:solidFill>
          <a:ln w="12700">
            <a:solidFill>
              <a:srgbClr val="FF6B35"/>
            </a:solidFill>
            <a:prstDash val="solid"/>
          </a:ln>
        </p:spPr>
      </p:sp>
      <p:sp>
        <p:nvSpPr>
          <p:cNvPr id="20" name="Text 17"/>
          <p:cNvSpPr/>
          <p:nvPr/>
        </p:nvSpPr>
        <p:spPr>
          <a:xfrm>
            <a:off x="411480" y="4462272"/>
            <a:ext cx="8412480" cy="457200"/>
          </a:xfrm>
          <a:prstGeom prst="rect">
            <a:avLst/>
          </a:prstGeom>
          <a:noFill/>
          <a:ln/>
        </p:spPr>
        <p:txBody>
          <a:bodyPr wrap="square" rtlCol="0" anchor="ctr"/>
          <a:lstStyle/>
          <a:p>
            <a:pPr marL="0" indent="0">
              <a:buNone/>
            </a:pPr>
            <a:r>
              <a:rPr lang="en-US" sz="1200" b="1" dirty="0">
                <a:solidFill>
                  <a:srgbClr val="7A2700"/>
                </a:solidFill>
                <a:latin typeface="Calibri" pitchFamily="34" charset="0"/>
                <a:ea typeface="Calibri" pitchFamily="34" charset="-122"/>
                <a:cs typeface="Calibri" pitchFamily="34" charset="-120"/>
              </a:rPr>
              <a:t>L1 (Lasso) is the recommended regularization for EEG seizure classification — consistent superiority across all class imbalance scenarios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w="12700">
            <a:solidFill>
              <a:srgbClr val="1F3864"/>
            </a:solidFill>
            <a:prstDash val="solid"/>
          </a:ln>
        </p:spPr>
      </p:sp>
      <p:sp>
        <p:nvSpPr>
          <p:cNvPr id="3" name="Text 1"/>
          <p:cNvSpPr/>
          <p:nvPr/>
        </p:nvSpPr>
        <p:spPr>
          <a:xfrm>
            <a:off x="320040" y="36576"/>
            <a:ext cx="8503920" cy="61264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Sparsity Analysis: Feature Selection Effect of L1</a:t>
            </a:r>
            <a:endParaRPr lang="en-US" sz="2200" dirty="0"/>
          </a:p>
        </p:txBody>
      </p:sp>
      <p:sp>
        <p:nvSpPr>
          <p:cNvPr id="4" name="Text 2"/>
          <p:cNvSpPr/>
          <p:nvPr/>
        </p:nvSpPr>
        <p:spPr>
          <a:xfrm>
            <a:off x="7772400" y="4892040"/>
            <a:ext cx="1188720" cy="201168"/>
          </a:xfrm>
          <a:prstGeom prst="rect">
            <a:avLst/>
          </a:prstGeom>
          <a:noFill/>
          <a:ln/>
        </p:spPr>
        <p:txBody>
          <a:bodyPr wrap="square" rtlCol="0" anchor="ctr"/>
          <a:lstStyle/>
          <a:p>
            <a:pPr marL="0" indent="0" algn="r">
              <a:buNone/>
            </a:pPr>
            <a:endParaRPr lang="en-US" sz="900" dirty="0"/>
          </a:p>
        </p:txBody>
      </p:sp>
      <p:sp>
        <p:nvSpPr>
          <p:cNvPr id="5" name="Shape 3"/>
          <p:cNvSpPr/>
          <p:nvPr/>
        </p:nvSpPr>
        <p:spPr>
          <a:xfrm>
            <a:off x="274320" y="841248"/>
            <a:ext cx="2743200" cy="2651760"/>
          </a:xfrm>
          <a:prstGeom prst="rect">
            <a:avLst/>
          </a:prstGeom>
          <a:solidFill>
            <a:srgbClr val="F1F5F9"/>
          </a:solidFill>
          <a:ln w="12700">
            <a:solidFill>
              <a:srgbClr val="CBD5E1"/>
            </a:solidFill>
            <a:prstDash val="solid"/>
          </a:ln>
          <a:effectLst>
            <a:outerShdw blurRad="63500" dist="25400" dir="8100000" algn="bl" rotWithShape="0">
              <a:srgbClr val="000000">
                <a:alpha val="12000"/>
              </a:srgbClr>
            </a:outerShdw>
          </a:effectLst>
        </p:spPr>
      </p:sp>
      <p:sp>
        <p:nvSpPr>
          <p:cNvPr id="6" name="Text 4"/>
          <p:cNvSpPr/>
          <p:nvPr/>
        </p:nvSpPr>
        <p:spPr>
          <a:xfrm>
            <a:off x="274320" y="841248"/>
            <a:ext cx="27432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L1 (Lasso)</a:t>
            </a:r>
            <a:endParaRPr lang="en-US" sz="1300" dirty="0"/>
          </a:p>
        </p:txBody>
      </p:sp>
      <p:sp>
        <p:nvSpPr>
          <p:cNvPr id="7" name="Shape 5"/>
          <p:cNvSpPr/>
          <p:nvPr/>
        </p:nvSpPr>
        <p:spPr>
          <a:xfrm>
            <a:off x="274320" y="841248"/>
            <a:ext cx="2743200" cy="347472"/>
          </a:xfrm>
          <a:prstGeom prst="rect">
            <a:avLst/>
          </a:prstGeom>
          <a:solidFill>
            <a:srgbClr val="1F3864"/>
          </a:solidFill>
          <a:ln w="12700">
            <a:solidFill>
              <a:srgbClr val="1F3864"/>
            </a:solidFill>
            <a:prstDash val="solid"/>
          </a:ln>
        </p:spPr>
      </p:sp>
      <p:sp>
        <p:nvSpPr>
          <p:cNvPr id="8" name="Text 6"/>
          <p:cNvSpPr/>
          <p:nvPr/>
        </p:nvSpPr>
        <p:spPr>
          <a:xfrm>
            <a:off x="274320" y="841248"/>
            <a:ext cx="27432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L1 (Lasso)</a:t>
            </a:r>
            <a:endParaRPr lang="en-US" sz="1300" dirty="0"/>
          </a:p>
        </p:txBody>
      </p:sp>
      <p:sp>
        <p:nvSpPr>
          <p:cNvPr id="9" name="Text 7"/>
          <p:cNvSpPr/>
          <p:nvPr/>
        </p:nvSpPr>
        <p:spPr>
          <a:xfrm>
            <a:off x="274320" y="1261872"/>
            <a:ext cx="2743200" cy="640080"/>
          </a:xfrm>
          <a:prstGeom prst="rect">
            <a:avLst/>
          </a:prstGeom>
          <a:noFill/>
          <a:ln/>
        </p:spPr>
        <p:txBody>
          <a:bodyPr wrap="square" rtlCol="0" anchor="ctr"/>
          <a:lstStyle/>
          <a:p>
            <a:pPr marL="0" indent="0" algn="ctr">
              <a:buNone/>
            </a:pPr>
            <a:r>
              <a:rPr lang="en-US" sz="3600" b="1" dirty="0">
                <a:solidFill>
                  <a:srgbClr val="1F3864"/>
                </a:solidFill>
                <a:latin typeface="Calibri" pitchFamily="34" charset="0"/>
                <a:ea typeface="Calibri" pitchFamily="34" charset="-122"/>
                <a:cs typeface="Calibri" pitchFamily="34" charset="-120"/>
              </a:rPr>
              <a:t>13/15</a:t>
            </a:r>
            <a:endParaRPr lang="en-US" sz="3600" dirty="0"/>
          </a:p>
        </p:txBody>
      </p:sp>
      <p:sp>
        <p:nvSpPr>
          <p:cNvPr id="10" name="Text 8"/>
          <p:cNvSpPr/>
          <p:nvPr/>
        </p:nvSpPr>
        <p:spPr>
          <a:xfrm>
            <a:off x="274320" y="1901952"/>
            <a:ext cx="2743200" cy="256032"/>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Non-zero coefficients</a:t>
            </a:r>
            <a:endParaRPr lang="en-US" sz="1000" dirty="0"/>
          </a:p>
        </p:txBody>
      </p:sp>
      <p:sp>
        <p:nvSpPr>
          <p:cNvPr id="11" name="Shape 9"/>
          <p:cNvSpPr/>
          <p:nvPr/>
        </p:nvSpPr>
        <p:spPr>
          <a:xfrm>
            <a:off x="548640" y="2240280"/>
            <a:ext cx="2194560" cy="182880"/>
          </a:xfrm>
          <a:prstGeom prst="rect">
            <a:avLst/>
          </a:prstGeom>
          <a:solidFill>
            <a:srgbClr val="E2E8F0"/>
          </a:solidFill>
          <a:ln w="12700">
            <a:solidFill>
              <a:srgbClr val="E2E8F0"/>
            </a:solidFill>
            <a:prstDash val="solid"/>
          </a:ln>
        </p:spPr>
      </p:sp>
      <p:sp>
        <p:nvSpPr>
          <p:cNvPr id="12" name="Shape 10"/>
          <p:cNvSpPr/>
          <p:nvPr/>
        </p:nvSpPr>
        <p:spPr>
          <a:xfrm>
            <a:off x="548640" y="2240280"/>
            <a:ext cx="1909267" cy="182880"/>
          </a:xfrm>
          <a:prstGeom prst="rect">
            <a:avLst/>
          </a:prstGeom>
          <a:solidFill>
            <a:srgbClr val="1F3864"/>
          </a:solidFill>
          <a:ln w="12700">
            <a:solidFill>
              <a:srgbClr val="1F3864"/>
            </a:solidFill>
            <a:prstDash val="solid"/>
          </a:ln>
        </p:spPr>
      </p:sp>
      <p:sp>
        <p:nvSpPr>
          <p:cNvPr id="13" name="Text 11"/>
          <p:cNvSpPr/>
          <p:nvPr/>
        </p:nvSpPr>
        <p:spPr>
          <a:xfrm>
            <a:off x="365760" y="2487168"/>
            <a:ext cx="2560320" cy="228600"/>
          </a:xfrm>
          <a:prstGeom prst="rect">
            <a:avLst/>
          </a:prstGeom>
          <a:noFill/>
          <a:ln/>
        </p:spPr>
        <p:txBody>
          <a:bodyPr wrap="square" rtlCol="0" anchor="ctr"/>
          <a:lstStyle/>
          <a:p>
            <a:pPr marL="0" indent="0" algn="ctr">
              <a:buNone/>
            </a:pPr>
            <a:r>
              <a:rPr lang="en-US" sz="1100" b="1" dirty="0">
                <a:solidFill>
                  <a:srgbClr val="1F3864"/>
                </a:solidFill>
                <a:latin typeface="Calibri" pitchFamily="34" charset="0"/>
                <a:ea typeface="Calibri" pitchFamily="34" charset="-122"/>
                <a:cs typeface="Calibri" pitchFamily="34" charset="-120"/>
              </a:rPr>
              <a:t>87% retained</a:t>
            </a:r>
            <a:endParaRPr lang="en-US" sz="1100" dirty="0"/>
          </a:p>
        </p:txBody>
      </p:sp>
      <p:sp>
        <p:nvSpPr>
          <p:cNvPr id="14" name="Shape 12"/>
          <p:cNvSpPr/>
          <p:nvPr/>
        </p:nvSpPr>
        <p:spPr>
          <a:xfrm>
            <a:off x="3154680" y="841248"/>
            <a:ext cx="2743200" cy="2651760"/>
          </a:xfrm>
          <a:prstGeom prst="rect">
            <a:avLst/>
          </a:prstGeom>
          <a:solidFill>
            <a:srgbClr val="F1F5F9"/>
          </a:solidFill>
          <a:ln w="12700">
            <a:solidFill>
              <a:srgbClr val="CBD5E1"/>
            </a:solidFill>
            <a:prstDash val="solid"/>
          </a:ln>
          <a:effectLst>
            <a:outerShdw blurRad="63500" dist="25400" dir="8100000" algn="bl" rotWithShape="0">
              <a:srgbClr val="000000">
                <a:alpha val="12000"/>
              </a:srgbClr>
            </a:outerShdw>
          </a:effectLst>
        </p:spPr>
      </p:sp>
      <p:sp>
        <p:nvSpPr>
          <p:cNvPr id="15" name="Text 13"/>
          <p:cNvSpPr/>
          <p:nvPr/>
        </p:nvSpPr>
        <p:spPr>
          <a:xfrm>
            <a:off x="3154680" y="841248"/>
            <a:ext cx="27432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L2 (Ridge)</a:t>
            </a:r>
            <a:endParaRPr lang="en-US" sz="1300" dirty="0"/>
          </a:p>
        </p:txBody>
      </p:sp>
      <p:sp>
        <p:nvSpPr>
          <p:cNvPr id="16" name="Shape 14"/>
          <p:cNvSpPr/>
          <p:nvPr/>
        </p:nvSpPr>
        <p:spPr>
          <a:xfrm>
            <a:off x="3154680" y="841248"/>
            <a:ext cx="2743200" cy="347472"/>
          </a:xfrm>
          <a:prstGeom prst="rect">
            <a:avLst/>
          </a:prstGeom>
          <a:solidFill>
            <a:srgbClr val="2980B9"/>
          </a:solidFill>
          <a:ln w="12700">
            <a:solidFill>
              <a:srgbClr val="2980B9"/>
            </a:solidFill>
            <a:prstDash val="solid"/>
          </a:ln>
        </p:spPr>
      </p:sp>
      <p:sp>
        <p:nvSpPr>
          <p:cNvPr id="17" name="Text 15"/>
          <p:cNvSpPr/>
          <p:nvPr/>
        </p:nvSpPr>
        <p:spPr>
          <a:xfrm>
            <a:off x="3154680" y="841248"/>
            <a:ext cx="27432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L2 (Ridge)</a:t>
            </a:r>
            <a:endParaRPr lang="en-US" sz="1300" dirty="0"/>
          </a:p>
        </p:txBody>
      </p:sp>
      <p:sp>
        <p:nvSpPr>
          <p:cNvPr id="18" name="Text 16"/>
          <p:cNvSpPr/>
          <p:nvPr/>
        </p:nvSpPr>
        <p:spPr>
          <a:xfrm>
            <a:off x="3154680" y="1261872"/>
            <a:ext cx="2743200" cy="640080"/>
          </a:xfrm>
          <a:prstGeom prst="rect">
            <a:avLst/>
          </a:prstGeom>
          <a:noFill/>
          <a:ln/>
        </p:spPr>
        <p:txBody>
          <a:bodyPr wrap="square" rtlCol="0" anchor="ctr"/>
          <a:lstStyle/>
          <a:p>
            <a:pPr marL="0" indent="0" algn="ctr">
              <a:buNone/>
            </a:pPr>
            <a:r>
              <a:rPr lang="en-US" sz="3600" b="1" dirty="0">
                <a:solidFill>
                  <a:srgbClr val="2980B9"/>
                </a:solidFill>
                <a:latin typeface="Calibri" pitchFamily="34" charset="0"/>
                <a:ea typeface="Calibri" pitchFamily="34" charset="-122"/>
                <a:cs typeface="Calibri" pitchFamily="34" charset="-120"/>
              </a:rPr>
              <a:t>15/15</a:t>
            </a:r>
            <a:endParaRPr lang="en-US" sz="3600" dirty="0"/>
          </a:p>
        </p:txBody>
      </p:sp>
      <p:sp>
        <p:nvSpPr>
          <p:cNvPr id="19" name="Text 17"/>
          <p:cNvSpPr/>
          <p:nvPr/>
        </p:nvSpPr>
        <p:spPr>
          <a:xfrm>
            <a:off x="3154680" y="1901952"/>
            <a:ext cx="2743200" cy="256032"/>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Non-zero coefficients</a:t>
            </a:r>
            <a:endParaRPr lang="en-US" sz="1000" dirty="0"/>
          </a:p>
        </p:txBody>
      </p:sp>
      <p:sp>
        <p:nvSpPr>
          <p:cNvPr id="20" name="Shape 18"/>
          <p:cNvSpPr/>
          <p:nvPr/>
        </p:nvSpPr>
        <p:spPr>
          <a:xfrm>
            <a:off x="3429000" y="2240280"/>
            <a:ext cx="2194560" cy="182880"/>
          </a:xfrm>
          <a:prstGeom prst="rect">
            <a:avLst/>
          </a:prstGeom>
          <a:solidFill>
            <a:srgbClr val="E2E8F0"/>
          </a:solidFill>
          <a:ln w="12700">
            <a:solidFill>
              <a:srgbClr val="E2E8F0"/>
            </a:solidFill>
            <a:prstDash val="solid"/>
          </a:ln>
        </p:spPr>
      </p:sp>
      <p:sp>
        <p:nvSpPr>
          <p:cNvPr id="21" name="Shape 19"/>
          <p:cNvSpPr/>
          <p:nvPr/>
        </p:nvSpPr>
        <p:spPr>
          <a:xfrm>
            <a:off x="3429000" y="2240280"/>
            <a:ext cx="2194560" cy="182880"/>
          </a:xfrm>
          <a:prstGeom prst="rect">
            <a:avLst/>
          </a:prstGeom>
          <a:solidFill>
            <a:srgbClr val="2980B9"/>
          </a:solidFill>
          <a:ln w="12700">
            <a:solidFill>
              <a:srgbClr val="2980B9"/>
            </a:solidFill>
            <a:prstDash val="solid"/>
          </a:ln>
        </p:spPr>
      </p:sp>
      <p:sp>
        <p:nvSpPr>
          <p:cNvPr id="22" name="Text 20"/>
          <p:cNvSpPr/>
          <p:nvPr/>
        </p:nvSpPr>
        <p:spPr>
          <a:xfrm>
            <a:off x="3246120" y="2487168"/>
            <a:ext cx="2560320" cy="228600"/>
          </a:xfrm>
          <a:prstGeom prst="rect">
            <a:avLst/>
          </a:prstGeom>
          <a:noFill/>
          <a:ln/>
        </p:spPr>
        <p:txBody>
          <a:bodyPr wrap="square" rtlCol="0" anchor="ctr"/>
          <a:lstStyle/>
          <a:p>
            <a:pPr marL="0" indent="0" algn="ctr">
              <a:buNone/>
            </a:pPr>
            <a:r>
              <a:rPr lang="en-US" sz="1100" b="1" dirty="0">
                <a:solidFill>
                  <a:srgbClr val="2980B9"/>
                </a:solidFill>
                <a:latin typeface="Calibri" pitchFamily="34" charset="0"/>
                <a:ea typeface="Calibri" pitchFamily="34" charset="-122"/>
                <a:cs typeface="Calibri" pitchFamily="34" charset="-120"/>
              </a:rPr>
              <a:t>100% retained</a:t>
            </a:r>
            <a:endParaRPr lang="en-US" sz="1100" dirty="0"/>
          </a:p>
        </p:txBody>
      </p:sp>
      <p:sp>
        <p:nvSpPr>
          <p:cNvPr id="23" name="Shape 21"/>
          <p:cNvSpPr/>
          <p:nvPr/>
        </p:nvSpPr>
        <p:spPr>
          <a:xfrm>
            <a:off x="6035040" y="841248"/>
            <a:ext cx="2743200" cy="2651760"/>
          </a:xfrm>
          <a:prstGeom prst="rect">
            <a:avLst/>
          </a:prstGeom>
          <a:solidFill>
            <a:srgbClr val="F1F5F9"/>
          </a:solidFill>
          <a:ln w="12700">
            <a:solidFill>
              <a:srgbClr val="CBD5E1"/>
            </a:solidFill>
            <a:prstDash val="solid"/>
          </a:ln>
          <a:effectLst>
            <a:outerShdw blurRad="63500" dist="25400" dir="8100000" algn="bl" rotWithShape="0">
              <a:srgbClr val="000000">
                <a:alpha val="12000"/>
              </a:srgbClr>
            </a:outerShdw>
          </a:effectLst>
        </p:spPr>
      </p:sp>
      <p:sp>
        <p:nvSpPr>
          <p:cNvPr id="24" name="Text 22"/>
          <p:cNvSpPr/>
          <p:nvPr/>
        </p:nvSpPr>
        <p:spPr>
          <a:xfrm>
            <a:off x="6035040" y="841248"/>
            <a:ext cx="27432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Elastic Net</a:t>
            </a:r>
            <a:endParaRPr lang="en-US" sz="1300" dirty="0"/>
          </a:p>
        </p:txBody>
      </p:sp>
      <p:sp>
        <p:nvSpPr>
          <p:cNvPr id="25" name="Shape 23"/>
          <p:cNvSpPr/>
          <p:nvPr/>
        </p:nvSpPr>
        <p:spPr>
          <a:xfrm>
            <a:off x="6035040" y="841248"/>
            <a:ext cx="2743200" cy="347472"/>
          </a:xfrm>
          <a:prstGeom prst="rect">
            <a:avLst/>
          </a:prstGeom>
          <a:solidFill>
            <a:srgbClr val="64748B"/>
          </a:solidFill>
          <a:ln w="12700">
            <a:solidFill>
              <a:srgbClr val="64748B"/>
            </a:solidFill>
            <a:prstDash val="solid"/>
          </a:ln>
        </p:spPr>
      </p:sp>
      <p:sp>
        <p:nvSpPr>
          <p:cNvPr id="26" name="Text 24"/>
          <p:cNvSpPr/>
          <p:nvPr/>
        </p:nvSpPr>
        <p:spPr>
          <a:xfrm>
            <a:off x="6035040" y="841248"/>
            <a:ext cx="27432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Elastic Net</a:t>
            </a:r>
            <a:endParaRPr lang="en-US" sz="1300" dirty="0"/>
          </a:p>
        </p:txBody>
      </p:sp>
      <p:sp>
        <p:nvSpPr>
          <p:cNvPr id="27" name="Text 25"/>
          <p:cNvSpPr/>
          <p:nvPr/>
        </p:nvSpPr>
        <p:spPr>
          <a:xfrm>
            <a:off x="6035040" y="1261872"/>
            <a:ext cx="2743200" cy="640080"/>
          </a:xfrm>
          <a:prstGeom prst="rect">
            <a:avLst/>
          </a:prstGeom>
          <a:noFill/>
          <a:ln/>
        </p:spPr>
        <p:txBody>
          <a:bodyPr wrap="square" rtlCol="0" anchor="ctr"/>
          <a:lstStyle/>
          <a:p>
            <a:pPr marL="0" indent="0" algn="ctr">
              <a:buNone/>
            </a:pPr>
            <a:r>
              <a:rPr lang="en-US" sz="3600" b="1" dirty="0">
                <a:solidFill>
                  <a:srgbClr val="64748B"/>
                </a:solidFill>
                <a:latin typeface="Calibri" pitchFamily="34" charset="0"/>
                <a:ea typeface="Calibri" pitchFamily="34" charset="-122"/>
                <a:cs typeface="Calibri" pitchFamily="34" charset="-120"/>
              </a:rPr>
              <a:t>14/15</a:t>
            </a:r>
            <a:endParaRPr lang="en-US" sz="3600" dirty="0"/>
          </a:p>
        </p:txBody>
      </p:sp>
      <p:sp>
        <p:nvSpPr>
          <p:cNvPr id="28" name="Text 26"/>
          <p:cNvSpPr/>
          <p:nvPr/>
        </p:nvSpPr>
        <p:spPr>
          <a:xfrm>
            <a:off x="6035040" y="1901952"/>
            <a:ext cx="2743200" cy="256032"/>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Non-zero coefficients</a:t>
            </a:r>
            <a:endParaRPr lang="en-US" sz="1000" dirty="0"/>
          </a:p>
        </p:txBody>
      </p:sp>
      <p:sp>
        <p:nvSpPr>
          <p:cNvPr id="29" name="Shape 27"/>
          <p:cNvSpPr/>
          <p:nvPr/>
        </p:nvSpPr>
        <p:spPr>
          <a:xfrm>
            <a:off x="6309360" y="2240280"/>
            <a:ext cx="2194560" cy="182880"/>
          </a:xfrm>
          <a:prstGeom prst="rect">
            <a:avLst/>
          </a:prstGeom>
          <a:solidFill>
            <a:srgbClr val="E2E8F0"/>
          </a:solidFill>
          <a:ln w="12700">
            <a:solidFill>
              <a:srgbClr val="E2E8F0"/>
            </a:solidFill>
            <a:prstDash val="solid"/>
          </a:ln>
        </p:spPr>
      </p:sp>
      <p:sp>
        <p:nvSpPr>
          <p:cNvPr id="30" name="Shape 28"/>
          <p:cNvSpPr/>
          <p:nvPr/>
        </p:nvSpPr>
        <p:spPr>
          <a:xfrm>
            <a:off x="6309360" y="2240280"/>
            <a:ext cx="2040941" cy="182880"/>
          </a:xfrm>
          <a:prstGeom prst="rect">
            <a:avLst/>
          </a:prstGeom>
          <a:solidFill>
            <a:srgbClr val="64748B"/>
          </a:solidFill>
          <a:ln w="12700">
            <a:solidFill>
              <a:srgbClr val="64748B"/>
            </a:solidFill>
            <a:prstDash val="solid"/>
          </a:ln>
        </p:spPr>
      </p:sp>
      <p:sp>
        <p:nvSpPr>
          <p:cNvPr id="31" name="Text 29"/>
          <p:cNvSpPr/>
          <p:nvPr/>
        </p:nvSpPr>
        <p:spPr>
          <a:xfrm>
            <a:off x="6126480" y="2487168"/>
            <a:ext cx="2560320" cy="228600"/>
          </a:xfrm>
          <a:prstGeom prst="rect">
            <a:avLst/>
          </a:prstGeom>
          <a:noFill/>
          <a:ln/>
        </p:spPr>
        <p:txBody>
          <a:bodyPr wrap="square" rtlCol="0" anchor="ctr"/>
          <a:lstStyle/>
          <a:p>
            <a:pPr marL="0" indent="0" algn="ctr">
              <a:buNone/>
            </a:pPr>
            <a:r>
              <a:rPr lang="en-US" sz="1100" b="1" dirty="0">
                <a:solidFill>
                  <a:srgbClr val="64748B"/>
                </a:solidFill>
                <a:latin typeface="Calibri" pitchFamily="34" charset="0"/>
                <a:ea typeface="Calibri" pitchFamily="34" charset="-122"/>
                <a:cs typeface="Calibri" pitchFamily="34" charset="-120"/>
              </a:rPr>
              <a:t>93% retained</a:t>
            </a:r>
            <a:endParaRPr lang="en-US" sz="1100" dirty="0"/>
          </a:p>
        </p:txBody>
      </p:sp>
      <p:sp>
        <p:nvSpPr>
          <p:cNvPr id="32" name="Shape 30"/>
          <p:cNvSpPr/>
          <p:nvPr/>
        </p:nvSpPr>
        <p:spPr>
          <a:xfrm>
            <a:off x="274320" y="3611880"/>
            <a:ext cx="8595360" cy="731520"/>
          </a:xfrm>
          <a:prstGeom prst="rect">
            <a:avLst/>
          </a:prstGeom>
          <a:solidFill>
            <a:srgbClr val="EEF4FF"/>
          </a:solidFill>
          <a:ln w="12700">
            <a:solidFill>
              <a:srgbClr val="1F3864"/>
            </a:solidFill>
            <a:prstDash val="solid"/>
          </a:ln>
          <a:effectLst>
            <a:outerShdw blurRad="63500" dist="25400" dir="8100000" algn="bl" rotWithShape="0">
              <a:srgbClr val="000000">
                <a:alpha val="12000"/>
              </a:srgbClr>
            </a:outerShdw>
          </a:effectLst>
        </p:spPr>
      </p:sp>
      <p:sp>
        <p:nvSpPr>
          <p:cNvPr id="33" name="Text 31"/>
          <p:cNvSpPr/>
          <p:nvPr/>
        </p:nvSpPr>
        <p:spPr>
          <a:xfrm>
            <a:off x="411480" y="3611880"/>
            <a:ext cx="8321040" cy="731520"/>
          </a:xfrm>
          <a:prstGeom prst="rect">
            <a:avLst/>
          </a:prstGeom>
          <a:noFill/>
          <a:ln/>
        </p:spPr>
        <p:txBody>
          <a:bodyPr wrap="square"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Key Insight: </a:t>
            </a:r>
            <a:r>
              <a:rPr lang="en-US" sz="1200" dirty="0">
                <a:solidFill>
                  <a:srgbClr val="1E293B"/>
                </a:solidFill>
                <a:latin typeface="Calibri" pitchFamily="34" charset="0"/>
                <a:ea typeface="Calibri" pitchFamily="34" charset="-122"/>
                <a:cs typeface="Calibri" pitchFamily="34" charset="-120"/>
              </a:rPr>
              <a:t>L1 automatically identifies the 1-2 LEAST informative PCA components and zeroes them out — acting as an additional layer of feature selection AFTER dimensionality reduction. This explains L1's consistent superiority over L2 and Elastic Net.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w="12700">
            <a:solidFill>
              <a:srgbClr val="1F3864"/>
            </a:solidFill>
            <a:prstDash val="solid"/>
          </a:ln>
        </p:spPr>
      </p:sp>
      <p:sp>
        <p:nvSpPr>
          <p:cNvPr id="3" name="Text 1"/>
          <p:cNvSpPr/>
          <p:nvPr/>
        </p:nvSpPr>
        <p:spPr>
          <a:xfrm>
            <a:off x="320040" y="36576"/>
            <a:ext cx="8503920" cy="61264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Handling Class Imbalance (D2: 2:1 | D3: 4:1 ratio)</a:t>
            </a:r>
            <a:endParaRPr lang="en-US" sz="2200" dirty="0"/>
          </a:p>
        </p:txBody>
      </p:sp>
      <p:sp>
        <p:nvSpPr>
          <p:cNvPr id="4" name="Text 2"/>
          <p:cNvSpPr/>
          <p:nvPr/>
        </p:nvSpPr>
        <p:spPr>
          <a:xfrm>
            <a:off x="7772400" y="4892040"/>
            <a:ext cx="1188720" cy="201168"/>
          </a:xfrm>
          <a:prstGeom prst="rect">
            <a:avLst/>
          </a:prstGeom>
          <a:noFill/>
          <a:ln/>
        </p:spPr>
        <p:txBody>
          <a:bodyPr wrap="square" rtlCol="0" anchor="ctr"/>
          <a:lstStyle/>
          <a:p>
            <a:pPr marL="0" indent="0" algn="r">
              <a:buNone/>
            </a:pPr>
            <a:endParaRPr lang="en-US" sz="900" dirty="0"/>
          </a:p>
        </p:txBody>
      </p:sp>
      <p:sp>
        <p:nvSpPr>
          <p:cNvPr id="5" name="Shape 3"/>
          <p:cNvSpPr/>
          <p:nvPr/>
        </p:nvSpPr>
        <p:spPr>
          <a:xfrm>
            <a:off x="274320" y="804672"/>
            <a:ext cx="8595360" cy="411480"/>
          </a:xfrm>
          <a:prstGeom prst="rect">
            <a:avLst/>
          </a:prstGeom>
          <a:solidFill>
            <a:srgbClr val="FFF3EE"/>
          </a:solidFill>
          <a:ln w="25400">
            <a:solidFill>
              <a:srgbClr val="FF6B35"/>
            </a:solidFill>
            <a:prstDash val="solid"/>
          </a:ln>
        </p:spPr>
      </p:sp>
      <p:sp>
        <p:nvSpPr>
          <p:cNvPr id="6" name="Text 4"/>
          <p:cNvSpPr/>
          <p:nvPr/>
        </p:nvSpPr>
        <p:spPr>
          <a:xfrm>
            <a:off x="411480" y="804672"/>
            <a:ext cx="8321040" cy="411480"/>
          </a:xfrm>
          <a:prstGeom prst="rect">
            <a:avLst/>
          </a:prstGeom>
          <a:noFill/>
          <a:ln/>
        </p:spPr>
        <p:txBody>
          <a:bodyPr wrap="square" rtlCol="0" anchor="ctr"/>
          <a:lstStyle/>
          <a:p>
            <a:pPr marL="0" indent="0">
              <a:buNone/>
            </a:pPr>
            <a:r>
              <a:rPr lang="en-US" sz="1200" b="1" dirty="0">
                <a:solidFill>
                  <a:srgbClr val="7A2700"/>
                </a:solidFill>
                <a:latin typeface="Calibri" pitchFamily="34" charset="0"/>
                <a:ea typeface="Calibri" pitchFamily="34" charset="-122"/>
                <a:cs typeface="Calibri" pitchFamily="34" charset="-120"/>
              </a:rPr>
              <a:t>In seizure detection, RECALL is paramount — missing a seizure is far more dangerous than a false alarm</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309349045"/>
              </p:ext>
            </p:extLst>
          </p:nvPr>
        </p:nvGraphicFramePr>
        <p:xfrm>
          <a:off x="274320" y="1325880"/>
          <a:ext cx="8595360" cy="1422400"/>
        </p:xfrm>
        <a:graphic>
          <a:graphicData uri="http://schemas.openxmlformats.org/drawingml/2006/table">
            <a:tbl>
              <a:tblPr/>
              <a:tblGrid>
                <a:gridCol w="256032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gridCol w="1508760">
                  <a:extLst>
                    <a:ext uri="{9D8B030D-6E8A-4147-A177-3AD203B41FA5}">
                      <a16:colId xmlns:a16="http://schemas.microsoft.com/office/drawing/2014/main" val="20004"/>
                    </a:ext>
                  </a:extLst>
                </a:gridCol>
              </a:tblGrid>
              <a:tr h="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Technique</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PR-AUC</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No Resampling</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0.930 </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0.133 </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0.233</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0.530</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extLst>
                  <a:ext uri="{0D108BD9-81ED-4DB2-BD59-A6C34878D82A}">
                    <a16:rowId xmlns:a16="http://schemas.microsoft.com/office/drawing/2014/main" val="10001"/>
                  </a:ext>
                </a:extLst>
              </a:tr>
              <a:tr h="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Class Weights</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0.439</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0.423</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0.431</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0.526</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SMOTE</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0.460</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0.440</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0.450</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0.545 </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extLst>
                  <a:ext uri="{0D108BD9-81ED-4DB2-BD59-A6C34878D82A}">
                    <a16:rowId xmlns:a16="http://schemas.microsoft.com/office/drawing/2014/main" val="10003"/>
                  </a:ext>
                </a:extLst>
              </a:tr>
              <a:tr h="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Undersampling</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0.431</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0.430</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0.431</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0.527</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Shape 5"/>
          <p:cNvSpPr/>
          <p:nvPr/>
        </p:nvSpPr>
        <p:spPr>
          <a:xfrm>
            <a:off x="274320" y="3383280"/>
            <a:ext cx="4114800" cy="914400"/>
          </a:xfrm>
          <a:prstGeom prst="rect">
            <a:avLst/>
          </a:prstGeom>
          <a:solidFill>
            <a:srgbClr val="F0FFF4"/>
          </a:solidFill>
          <a:ln w="25400">
            <a:solidFill>
              <a:srgbClr val="2E8B57"/>
            </a:solidFill>
            <a:prstDash val="solid"/>
          </a:ln>
          <a:effectLst>
            <a:outerShdw blurRad="63500" dist="25400" dir="8100000" algn="bl" rotWithShape="0">
              <a:srgbClr val="000000">
                <a:alpha val="12000"/>
              </a:srgbClr>
            </a:outerShdw>
          </a:effectLst>
        </p:spPr>
      </p:sp>
      <p:sp>
        <p:nvSpPr>
          <p:cNvPr id="9" name="Text 6"/>
          <p:cNvSpPr/>
          <p:nvPr/>
        </p:nvSpPr>
        <p:spPr>
          <a:xfrm>
            <a:off x="365760" y="3410712"/>
            <a:ext cx="3931920" cy="274320"/>
          </a:xfrm>
          <a:prstGeom prst="rect">
            <a:avLst/>
          </a:prstGeom>
          <a:noFill/>
          <a:ln/>
        </p:spPr>
        <p:txBody>
          <a:bodyPr wrap="square" rtlCol="0" anchor="ctr"/>
          <a:lstStyle/>
          <a:p>
            <a:pPr marL="0" indent="0">
              <a:buNone/>
            </a:pPr>
            <a:r>
              <a:rPr lang="en-US" sz="1200" b="1" dirty="0">
                <a:solidFill>
                  <a:srgbClr val="2E8B57"/>
                </a:solidFill>
                <a:latin typeface="Calibri" pitchFamily="34" charset="0"/>
                <a:ea typeface="Calibri" pitchFamily="34" charset="-122"/>
                <a:cs typeface="Calibri" pitchFamily="34" charset="-120"/>
              </a:rPr>
              <a:t>RECOMMENDED: SMOTE</a:t>
            </a:r>
            <a:endParaRPr lang="en-US" sz="1200" dirty="0"/>
          </a:p>
        </p:txBody>
      </p:sp>
      <p:sp>
        <p:nvSpPr>
          <p:cNvPr id="10" name="Text 7"/>
          <p:cNvSpPr/>
          <p:nvPr/>
        </p:nvSpPr>
        <p:spPr>
          <a:xfrm>
            <a:off x="365760" y="3703320"/>
            <a:ext cx="3931920" cy="54864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Best PR-AUC (0.545), most balanced precision-recall trade-off. Synthesises realistic minority-class EEG samples.</a:t>
            </a:r>
            <a:endParaRPr lang="en-US" sz="1000" dirty="0"/>
          </a:p>
        </p:txBody>
      </p:sp>
      <p:sp>
        <p:nvSpPr>
          <p:cNvPr id="7" name="Shape 8"/>
          <p:cNvSpPr/>
          <p:nvPr/>
        </p:nvSpPr>
        <p:spPr>
          <a:xfrm>
            <a:off x="4663440" y="3383280"/>
            <a:ext cx="4114800" cy="914400"/>
          </a:xfrm>
          <a:prstGeom prst="rect">
            <a:avLst/>
          </a:prstGeom>
          <a:solidFill>
            <a:srgbClr val="FFF5F5"/>
          </a:solidFill>
          <a:ln w="25400">
            <a:solidFill>
              <a:srgbClr val="C0392B"/>
            </a:solidFill>
            <a:prstDash val="solid"/>
          </a:ln>
          <a:effectLst>
            <a:outerShdw blurRad="63500" dist="25400" dir="8100000" algn="bl" rotWithShape="0">
              <a:srgbClr val="000000">
                <a:alpha val="12000"/>
              </a:srgbClr>
            </a:outerShdw>
          </a:effectLst>
        </p:spPr>
      </p:sp>
      <p:sp>
        <p:nvSpPr>
          <p:cNvPr id="12" name="Text 9"/>
          <p:cNvSpPr/>
          <p:nvPr/>
        </p:nvSpPr>
        <p:spPr>
          <a:xfrm>
            <a:off x="4754880" y="3410712"/>
            <a:ext cx="3931920" cy="274320"/>
          </a:xfrm>
          <a:prstGeom prst="rect">
            <a:avLst/>
          </a:prstGeom>
          <a:noFill/>
          <a:ln/>
        </p:spPr>
        <p:txBody>
          <a:bodyPr wrap="square"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WARNING: No Resampling</a:t>
            </a:r>
            <a:endParaRPr lang="en-US" sz="1200" dirty="0"/>
          </a:p>
        </p:txBody>
      </p:sp>
      <p:sp>
        <p:nvSpPr>
          <p:cNvPr id="13" name="Text 10"/>
          <p:cNvSpPr/>
          <p:nvPr/>
        </p:nvSpPr>
        <p:spPr>
          <a:xfrm>
            <a:off x="4754880" y="3703320"/>
            <a:ext cx="3931920" cy="54864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Precision=0.930 but Recall=0.133 — the model virtually never predicts seizure, missing 87% of actual events.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w="12700">
            <a:solidFill>
              <a:srgbClr val="1F3864"/>
            </a:solidFill>
            <a:prstDash val="solid"/>
          </a:ln>
        </p:spPr>
      </p:sp>
      <p:sp>
        <p:nvSpPr>
          <p:cNvPr id="3" name="Text 1"/>
          <p:cNvSpPr/>
          <p:nvPr/>
        </p:nvSpPr>
        <p:spPr>
          <a:xfrm>
            <a:off x="320040" y="36576"/>
            <a:ext cx="8503920" cy="61264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Comparative Analysis: Research Questions 1 &amp; 2</a:t>
            </a:r>
            <a:endParaRPr lang="en-US" sz="2200" dirty="0"/>
          </a:p>
        </p:txBody>
      </p:sp>
      <p:sp>
        <p:nvSpPr>
          <p:cNvPr id="4" name="Text 2"/>
          <p:cNvSpPr/>
          <p:nvPr/>
        </p:nvSpPr>
        <p:spPr>
          <a:xfrm>
            <a:off x="7772400" y="4892040"/>
            <a:ext cx="1188720" cy="201168"/>
          </a:xfrm>
          <a:prstGeom prst="rect">
            <a:avLst/>
          </a:prstGeom>
          <a:noFill/>
          <a:ln/>
        </p:spPr>
        <p:txBody>
          <a:bodyPr wrap="square" rtlCol="0" anchor="ctr"/>
          <a:lstStyle/>
          <a:p>
            <a:pPr marL="0" indent="0" algn="r">
              <a:buNone/>
            </a:pPr>
            <a:endParaRPr lang="en-US" sz="900" dirty="0"/>
          </a:p>
        </p:txBody>
      </p:sp>
      <p:sp>
        <p:nvSpPr>
          <p:cNvPr id="5" name="Shape 3"/>
          <p:cNvSpPr/>
          <p:nvPr/>
        </p:nvSpPr>
        <p:spPr>
          <a:xfrm>
            <a:off x="274320" y="804672"/>
            <a:ext cx="8595360" cy="274320"/>
          </a:xfrm>
          <a:prstGeom prst="rect">
            <a:avLst/>
          </a:prstGeom>
          <a:solidFill>
            <a:srgbClr val="1F3864"/>
          </a:solidFill>
          <a:ln w="12700">
            <a:solidFill>
              <a:srgbClr val="1F3864"/>
            </a:solidFill>
            <a:prstDash val="solid"/>
          </a:ln>
        </p:spPr>
      </p:sp>
      <p:sp>
        <p:nvSpPr>
          <p:cNvPr id="6" name="Text 4"/>
          <p:cNvSpPr/>
          <p:nvPr/>
        </p:nvSpPr>
        <p:spPr>
          <a:xfrm>
            <a:off x="320040" y="804672"/>
            <a:ext cx="85039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RQ1: Does Preprocessing Order Affect Results?</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1115568"/>
          <a:ext cx="8595360" cy="1137920"/>
        </p:xfrm>
        <a:graphic>
          <a:graphicData uri="http://schemas.openxmlformats.org/drawingml/2006/table">
            <a:tbl>
              <a:tblPr/>
              <a:tblGrid>
                <a:gridCol w="214884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tblGrid>
              <a:tr h="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Pipeline A F1</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Pipeline B F1</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Improvement</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D1 (1:1)</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0.503</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extLst>
                  <a:ext uri="{0D108BD9-81ED-4DB2-BD59-A6C34878D82A}">
                    <a16:rowId xmlns:a16="http://schemas.microsoft.com/office/drawing/2014/main" val="10001"/>
                  </a:ext>
                </a:extLst>
              </a:tr>
              <a:tr h="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D2 (2:1)</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0.233</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0.925</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+69%</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D3 (4:1)</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0.130</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0.908</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+78%</a:t>
                      </a:r>
                      <a:endParaRPr lang="en-US" sz="12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extLst>
                  <a:ext uri="{0D108BD9-81ED-4DB2-BD59-A6C34878D82A}">
                    <a16:rowId xmlns:a16="http://schemas.microsoft.com/office/drawing/2014/main" val="10003"/>
                  </a:ext>
                </a:extLst>
              </a:tr>
            </a:tbl>
          </a:graphicData>
        </a:graphic>
      </p:graphicFrame>
      <p:sp>
        <p:nvSpPr>
          <p:cNvPr id="8" name="Text 5"/>
          <p:cNvSpPr/>
          <p:nvPr/>
        </p:nvSpPr>
        <p:spPr>
          <a:xfrm>
            <a:off x="306324" y="2276856"/>
            <a:ext cx="8321040" cy="347472"/>
          </a:xfrm>
          <a:prstGeom prst="rect">
            <a:avLst/>
          </a:prstGeom>
          <a:noFill/>
          <a:ln/>
        </p:spPr>
        <p:txBody>
          <a:bodyPr wrap="square" rtlCol="0" anchor="ctr"/>
          <a:lstStyle/>
          <a:p>
            <a:pPr marL="0" indent="0">
              <a:buNone/>
            </a:pPr>
            <a:r>
              <a:rPr lang="en-US" sz="1100" b="1" i="1" dirty="0">
                <a:solidFill>
                  <a:srgbClr val="2E8B57"/>
                </a:solidFill>
                <a:latin typeface="Calibri" pitchFamily="34" charset="0"/>
                <a:ea typeface="Calibri" pitchFamily="34" charset="-122"/>
                <a:cs typeface="Calibri" pitchFamily="34" charset="-120"/>
              </a:rPr>
              <a:t>YES — Preprocessing order has the single largest impact. Spectral feature extraction (Pipeline B) dominates raw signal processing across all datasets.</a:t>
            </a:r>
            <a:endParaRPr lang="en-US" sz="1100" dirty="0"/>
          </a:p>
        </p:txBody>
      </p:sp>
      <p:sp>
        <p:nvSpPr>
          <p:cNvPr id="9" name="Shape 6"/>
          <p:cNvSpPr/>
          <p:nvPr/>
        </p:nvSpPr>
        <p:spPr>
          <a:xfrm>
            <a:off x="274320" y="2633472"/>
            <a:ext cx="8595360" cy="0"/>
          </a:xfrm>
          <a:prstGeom prst="line">
            <a:avLst/>
          </a:prstGeom>
          <a:noFill/>
          <a:ln w="12700">
            <a:solidFill>
              <a:srgbClr val="CBD5E1"/>
            </a:solidFill>
            <a:prstDash val="solid"/>
          </a:ln>
        </p:spPr>
      </p:sp>
      <p:sp>
        <p:nvSpPr>
          <p:cNvPr id="10" name="Shape 7"/>
          <p:cNvSpPr/>
          <p:nvPr/>
        </p:nvSpPr>
        <p:spPr>
          <a:xfrm>
            <a:off x="274320" y="2697480"/>
            <a:ext cx="8595360" cy="274320"/>
          </a:xfrm>
          <a:prstGeom prst="rect">
            <a:avLst/>
          </a:prstGeom>
          <a:solidFill>
            <a:srgbClr val="2E4E8A"/>
          </a:solidFill>
          <a:ln w="12700">
            <a:solidFill>
              <a:srgbClr val="2E4E8A"/>
            </a:solidFill>
            <a:prstDash val="solid"/>
          </a:ln>
        </p:spPr>
      </p:sp>
      <p:sp>
        <p:nvSpPr>
          <p:cNvPr id="11" name="Text 8"/>
          <p:cNvSpPr/>
          <p:nvPr/>
        </p:nvSpPr>
        <p:spPr>
          <a:xfrm>
            <a:off x="320040" y="2697480"/>
            <a:ext cx="85039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RQ2: Which Regularisation Generalises Best Across Datasets?</a:t>
            </a:r>
            <a:endParaRPr lang="en-US" sz="1300" dirty="0"/>
          </a:p>
        </p:txBody>
      </p:sp>
      <p:sp>
        <p:nvSpPr>
          <p:cNvPr id="7" name="Shape 9"/>
          <p:cNvSpPr/>
          <p:nvPr/>
        </p:nvSpPr>
        <p:spPr>
          <a:xfrm>
            <a:off x="274320" y="3017520"/>
            <a:ext cx="2743200" cy="914400"/>
          </a:xfrm>
          <a:prstGeom prst="rect">
            <a:avLst/>
          </a:prstGeom>
          <a:solidFill>
            <a:srgbClr val="EEF4FF"/>
          </a:solidFill>
          <a:ln w="25400">
            <a:solidFill>
              <a:srgbClr val="1F3864"/>
            </a:solidFill>
            <a:prstDash val="solid"/>
          </a:ln>
          <a:effectLst>
            <a:outerShdw blurRad="63500" dist="25400" dir="8100000" algn="bl" rotWithShape="0">
              <a:srgbClr val="000000">
                <a:alpha val="12000"/>
              </a:srgbClr>
            </a:outerShdw>
          </a:effectLst>
        </p:spPr>
      </p:sp>
      <p:sp>
        <p:nvSpPr>
          <p:cNvPr id="13" name="Text 10"/>
          <p:cNvSpPr/>
          <p:nvPr/>
        </p:nvSpPr>
        <p:spPr>
          <a:xfrm>
            <a:off x="274320" y="3017520"/>
            <a:ext cx="2743200" cy="256032"/>
          </a:xfrm>
          <a:prstGeom prst="rect">
            <a:avLst/>
          </a:prstGeom>
          <a:noFill/>
          <a:ln/>
        </p:spPr>
        <p:txBody>
          <a:bodyPr wrap="square" rtlCol="0" anchor="ctr"/>
          <a:lstStyle/>
          <a:p>
            <a:pPr marL="0" indent="0" algn="ctr">
              <a:buNone/>
            </a:pPr>
            <a:r>
              <a:rPr lang="en-US" sz="1100" b="1" dirty="0">
                <a:solidFill>
                  <a:srgbClr val="1F3864"/>
                </a:solidFill>
                <a:latin typeface="Calibri" pitchFamily="34" charset="0"/>
                <a:ea typeface="Calibri" pitchFamily="34" charset="-122"/>
                <a:cs typeface="Calibri" pitchFamily="34" charset="-120"/>
              </a:rPr>
              <a:t>D1 (1:1)</a:t>
            </a:r>
            <a:endParaRPr lang="en-US" sz="1100" dirty="0"/>
          </a:p>
        </p:txBody>
      </p:sp>
      <p:sp>
        <p:nvSpPr>
          <p:cNvPr id="14" name="Text 11"/>
          <p:cNvSpPr/>
          <p:nvPr/>
        </p:nvSpPr>
        <p:spPr>
          <a:xfrm>
            <a:off x="274320" y="3291840"/>
            <a:ext cx="2743200" cy="365760"/>
          </a:xfrm>
          <a:prstGeom prst="rect">
            <a:avLst/>
          </a:prstGeom>
          <a:noFill/>
          <a:ln/>
        </p:spPr>
        <p:txBody>
          <a:bodyPr wrap="square" rtlCol="0" anchor="ctr"/>
          <a:lstStyle/>
          <a:p>
            <a:pPr marL="0" indent="0" algn="ctr">
              <a:buNone/>
            </a:pPr>
            <a:r>
              <a:rPr lang="en-US" sz="2400" b="1" dirty="0">
                <a:solidFill>
                  <a:srgbClr val="1F3864"/>
                </a:solidFill>
                <a:latin typeface="Calibri" pitchFamily="34" charset="0"/>
                <a:ea typeface="Calibri" pitchFamily="34" charset="-122"/>
                <a:cs typeface="Calibri" pitchFamily="34" charset="-120"/>
              </a:rPr>
              <a:t>L1 wins</a:t>
            </a:r>
            <a:endParaRPr lang="en-US" sz="2400" dirty="0"/>
          </a:p>
        </p:txBody>
      </p:sp>
      <p:sp>
        <p:nvSpPr>
          <p:cNvPr id="15" name="Text 12"/>
          <p:cNvSpPr/>
          <p:nvPr/>
        </p:nvSpPr>
        <p:spPr>
          <a:xfrm>
            <a:off x="274320" y="3657600"/>
            <a:ext cx="2743200" cy="22860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Best F1: 0.9987</a:t>
            </a:r>
            <a:endParaRPr lang="en-US" sz="1000" dirty="0"/>
          </a:p>
        </p:txBody>
      </p:sp>
      <p:sp>
        <p:nvSpPr>
          <p:cNvPr id="16" name="Shape 13"/>
          <p:cNvSpPr/>
          <p:nvPr/>
        </p:nvSpPr>
        <p:spPr>
          <a:xfrm>
            <a:off x="3154680" y="3017520"/>
            <a:ext cx="2743200" cy="914400"/>
          </a:xfrm>
          <a:prstGeom prst="rect">
            <a:avLst/>
          </a:prstGeom>
          <a:solidFill>
            <a:srgbClr val="EEF4FF"/>
          </a:solidFill>
          <a:ln w="25400">
            <a:solidFill>
              <a:srgbClr val="1F3864"/>
            </a:solidFill>
            <a:prstDash val="solid"/>
          </a:ln>
          <a:effectLst>
            <a:outerShdw blurRad="63500" dist="25400" dir="8100000" algn="bl" rotWithShape="0">
              <a:srgbClr val="000000">
                <a:alpha val="12000"/>
              </a:srgbClr>
            </a:outerShdw>
          </a:effectLst>
        </p:spPr>
      </p:sp>
      <p:sp>
        <p:nvSpPr>
          <p:cNvPr id="17" name="Text 14"/>
          <p:cNvSpPr/>
          <p:nvPr/>
        </p:nvSpPr>
        <p:spPr>
          <a:xfrm>
            <a:off x="3154680" y="3017520"/>
            <a:ext cx="2743200" cy="256032"/>
          </a:xfrm>
          <a:prstGeom prst="rect">
            <a:avLst/>
          </a:prstGeom>
          <a:noFill/>
          <a:ln/>
        </p:spPr>
        <p:txBody>
          <a:bodyPr wrap="square" rtlCol="0" anchor="ctr"/>
          <a:lstStyle/>
          <a:p>
            <a:pPr marL="0" indent="0" algn="ctr">
              <a:buNone/>
            </a:pPr>
            <a:r>
              <a:rPr lang="en-US" sz="1100" b="1" dirty="0">
                <a:solidFill>
                  <a:srgbClr val="1F3864"/>
                </a:solidFill>
                <a:latin typeface="Calibri" pitchFamily="34" charset="0"/>
                <a:ea typeface="Calibri" pitchFamily="34" charset="-122"/>
                <a:cs typeface="Calibri" pitchFamily="34" charset="-120"/>
              </a:rPr>
              <a:t>D2 (2:1)</a:t>
            </a:r>
            <a:endParaRPr lang="en-US" sz="1100" dirty="0"/>
          </a:p>
        </p:txBody>
      </p:sp>
      <p:sp>
        <p:nvSpPr>
          <p:cNvPr id="18" name="Text 15"/>
          <p:cNvSpPr/>
          <p:nvPr/>
        </p:nvSpPr>
        <p:spPr>
          <a:xfrm>
            <a:off x="3154680" y="3291840"/>
            <a:ext cx="2743200" cy="365760"/>
          </a:xfrm>
          <a:prstGeom prst="rect">
            <a:avLst/>
          </a:prstGeom>
          <a:noFill/>
          <a:ln/>
        </p:spPr>
        <p:txBody>
          <a:bodyPr wrap="square" rtlCol="0" anchor="ctr"/>
          <a:lstStyle/>
          <a:p>
            <a:pPr marL="0" indent="0" algn="ctr">
              <a:buNone/>
            </a:pPr>
            <a:r>
              <a:rPr lang="en-US" sz="2400" b="1" dirty="0">
                <a:solidFill>
                  <a:srgbClr val="1F3864"/>
                </a:solidFill>
                <a:latin typeface="Calibri" pitchFamily="34" charset="0"/>
                <a:ea typeface="Calibri" pitchFamily="34" charset="-122"/>
                <a:cs typeface="Calibri" pitchFamily="34" charset="-120"/>
              </a:rPr>
              <a:t>L1 wins</a:t>
            </a:r>
            <a:endParaRPr lang="en-US" sz="2400" dirty="0"/>
          </a:p>
        </p:txBody>
      </p:sp>
      <p:sp>
        <p:nvSpPr>
          <p:cNvPr id="19" name="Text 16"/>
          <p:cNvSpPr/>
          <p:nvPr/>
        </p:nvSpPr>
        <p:spPr>
          <a:xfrm>
            <a:off x="3154680" y="3657600"/>
            <a:ext cx="2743200" cy="22860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Best F1: 0.9571</a:t>
            </a:r>
            <a:endParaRPr lang="en-US" sz="1000" dirty="0"/>
          </a:p>
        </p:txBody>
      </p:sp>
      <p:sp>
        <p:nvSpPr>
          <p:cNvPr id="20" name="Shape 17"/>
          <p:cNvSpPr/>
          <p:nvPr/>
        </p:nvSpPr>
        <p:spPr>
          <a:xfrm>
            <a:off x="6035040" y="3017520"/>
            <a:ext cx="2743200" cy="914400"/>
          </a:xfrm>
          <a:prstGeom prst="rect">
            <a:avLst/>
          </a:prstGeom>
          <a:solidFill>
            <a:srgbClr val="EEF4FF"/>
          </a:solidFill>
          <a:ln w="25400">
            <a:solidFill>
              <a:srgbClr val="1F3864"/>
            </a:solidFill>
            <a:prstDash val="solid"/>
          </a:ln>
          <a:effectLst>
            <a:outerShdw blurRad="63500" dist="25400" dir="8100000" algn="bl" rotWithShape="0">
              <a:srgbClr val="000000">
                <a:alpha val="12000"/>
              </a:srgbClr>
            </a:outerShdw>
          </a:effectLst>
        </p:spPr>
      </p:sp>
      <p:sp>
        <p:nvSpPr>
          <p:cNvPr id="21" name="Text 18"/>
          <p:cNvSpPr/>
          <p:nvPr/>
        </p:nvSpPr>
        <p:spPr>
          <a:xfrm>
            <a:off x="6035040" y="3017520"/>
            <a:ext cx="2743200" cy="256032"/>
          </a:xfrm>
          <a:prstGeom prst="rect">
            <a:avLst/>
          </a:prstGeom>
          <a:noFill/>
          <a:ln/>
        </p:spPr>
        <p:txBody>
          <a:bodyPr wrap="square" rtlCol="0" anchor="ctr"/>
          <a:lstStyle/>
          <a:p>
            <a:pPr marL="0" indent="0" algn="ctr">
              <a:buNone/>
            </a:pPr>
            <a:r>
              <a:rPr lang="en-US" sz="1100" b="1" dirty="0">
                <a:solidFill>
                  <a:srgbClr val="1F3864"/>
                </a:solidFill>
                <a:latin typeface="Calibri" pitchFamily="34" charset="0"/>
                <a:ea typeface="Calibri" pitchFamily="34" charset="-122"/>
                <a:cs typeface="Calibri" pitchFamily="34" charset="-120"/>
              </a:rPr>
              <a:t>D3 (4:1)</a:t>
            </a:r>
            <a:endParaRPr lang="en-US" sz="1100" dirty="0"/>
          </a:p>
        </p:txBody>
      </p:sp>
      <p:sp>
        <p:nvSpPr>
          <p:cNvPr id="22" name="Text 19"/>
          <p:cNvSpPr/>
          <p:nvPr/>
        </p:nvSpPr>
        <p:spPr>
          <a:xfrm>
            <a:off x="6035040" y="3291840"/>
            <a:ext cx="2743200" cy="365760"/>
          </a:xfrm>
          <a:prstGeom prst="rect">
            <a:avLst/>
          </a:prstGeom>
          <a:noFill/>
          <a:ln/>
        </p:spPr>
        <p:txBody>
          <a:bodyPr wrap="square" rtlCol="0" anchor="ctr"/>
          <a:lstStyle/>
          <a:p>
            <a:pPr marL="0" indent="0" algn="ctr">
              <a:buNone/>
            </a:pPr>
            <a:r>
              <a:rPr lang="en-US" sz="2400" b="1" dirty="0">
                <a:solidFill>
                  <a:srgbClr val="1F3864"/>
                </a:solidFill>
                <a:latin typeface="Calibri" pitchFamily="34" charset="0"/>
                <a:ea typeface="Calibri" pitchFamily="34" charset="-122"/>
                <a:cs typeface="Calibri" pitchFamily="34" charset="-120"/>
              </a:rPr>
              <a:t>L1 wins</a:t>
            </a:r>
            <a:endParaRPr lang="en-US" sz="2400" dirty="0"/>
          </a:p>
        </p:txBody>
      </p:sp>
      <p:sp>
        <p:nvSpPr>
          <p:cNvPr id="23" name="Text 20"/>
          <p:cNvSpPr/>
          <p:nvPr/>
        </p:nvSpPr>
        <p:spPr>
          <a:xfrm>
            <a:off x="6035040" y="3657600"/>
            <a:ext cx="2743200" cy="22860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Best F1: 0.9366</a:t>
            </a:r>
            <a:endParaRPr lang="en-US" sz="1000" dirty="0"/>
          </a:p>
        </p:txBody>
      </p:sp>
      <p:sp>
        <p:nvSpPr>
          <p:cNvPr id="24" name="Shape 21"/>
          <p:cNvSpPr/>
          <p:nvPr/>
        </p:nvSpPr>
        <p:spPr>
          <a:xfrm>
            <a:off x="274320" y="4480560"/>
            <a:ext cx="8595360" cy="457200"/>
          </a:xfrm>
          <a:prstGeom prst="rect">
            <a:avLst/>
          </a:prstGeom>
          <a:solidFill>
            <a:srgbClr val="FFF3EE"/>
          </a:solidFill>
          <a:ln w="25400">
            <a:solidFill>
              <a:srgbClr val="FF6B35"/>
            </a:solidFill>
            <a:prstDash val="solid"/>
          </a:ln>
        </p:spPr>
      </p:sp>
      <p:sp>
        <p:nvSpPr>
          <p:cNvPr id="25" name="Shape 22"/>
          <p:cNvSpPr/>
          <p:nvPr/>
        </p:nvSpPr>
        <p:spPr>
          <a:xfrm>
            <a:off x="274320" y="4480560"/>
            <a:ext cx="64008" cy="457200"/>
          </a:xfrm>
          <a:prstGeom prst="rect">
            <a:avLst/>
          </a:prstGeom>
          <a:solidFill>
            <a:srgbClr val="FF6B35"/>
          </a:solidFill>
          <a:ln w="12700">
            <a:solidFill>
              <a:srgbClr val="FF6B35"/>
            </a:solidFill>
            <a:prstDash val="solid"/>
          </a:ln>
        </p:spPr>
      </p:sp>
      <p:sp>
        <p:nvSpPr>
          <p:cNvPr id="26" name="Text 23"/>
          <p:cNvSpPr/>
          <p:nvPr/>
        </p:nvSpPr>
        <p:spPr>
          <a:xfrm>
            <a:off x="411480" y="4480560"/>
            <a:ext cx="8412480" cy="457200"/>
          </a:xfrm>
          <a:prstGeom prst="rect">
            <a:avLst/>
          </a:prstGeom>
          <a:noFill/>
          <a:ln/>
        </p:spPr>
        <p:txBody>
          <a:bodyPr wrap="square" rtlCol="0" anchor="ctr"/>
          <a:lstStyle/>
          <a:p>
            <a:pPr marL="0" indent="0">
              <a:buNone/>
            </a:pPr>
            <a:r>
              <a:rPr lang="en-US" sz="1200" b="1" dirty="0">
                <a:solidFill>
                  <a:srgbClr val="7A2700"/>
                </a:solidFill>
                <a:latin typeface="Calibri" pitchFamily="34" charset="0"/>
                <a:ea typeface="Calibri" pitchFamily="34" charset="-122"/>
                <a:cs typeface="Calibri" pitchFamily="34" charset="-120"/>
              </a:rPr>
              <a:t>L1 (Lasso) wins on ALL 3 datasets. Its sparsity property provides inherent feature selection even within PCA-reduced space.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w="12700">
            <a:solidFill>
              <a:srgbClr val="1F3864"/>
            </a:solidFill>
            <a:prstDash val="solid"/>
          </a:ln>
        </p:spPr>
      </p:sp>
      <p:sp>
        <p:nvSpPr>
          <p:cNvPr id="3" name="Text 1"/>
          <p:cNvSpPr/>
          <p:nvPr/>
        </p:nvSpPr>
        <p:spPr>
          <a:xfrm>
            <a:off x="320040" y="36576"/>
            <a:ext cx="8503920" cy="61264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Comparative Analysis: Research Questions 3 &amp; 4</a:t>
            </a:r>
            <a:endParaRPr lang="en-US" sz="2200" dirty="0"/>
          </a:p>
        </p:txBody>
      </p:sp>
      <p:sp>
        <p:nvSpPr>
          <p:cNvPr id="4" name="Text 2"/>
          <p:cNvSpPr/>
          <p:nvPr/>
        </p:nvSpPr>
        <p:spPr>
          <a:xfrm>
            <a:off x="7772400" y="4892040"/>
            <a:ext cx="1188720" cy="201168"/>
          </a:xfrm>
          <a:prstGeom prst="rect">
            <a:avLst/>
          </a:prstGeom>
          <a:noFill/>
          <a:ln/>
        </p:spPr>
        <p:txBody>
          <a:bodyPr wrap="square" rtlCol="0" anchor="ctr"/>
          <a:lstStyle/>
          <a:p>
            <a:pPr marL="0" indent="0" algn="r">
              <a:buNone/>
            </a:pPr>
            <a:endParaRPr lang="en-US" sz="900" dirty="0"/>
          </a:p>
        </p:txBody>
      </p:sp>
      <p:sp>
        <p:nvSpPr>
          <p:cNvPr id="5" name="Shape 3"/>
          <p:cNvSpPr/>
          <p:nvPr/>
        </p:nvSpPr>
        <p:spPr>
          <a:xfrm>
            <a:off x="274320" y="804672"/>
            <a:ext cx="8595360" cy="274320"/>
          </a:xfrm>
          <a:prstGeom prst="rect">
            <a:avLst/>
          </a:prstGeom>
          <a:solidFill>
            <a:srgbClr val="1F3864"/>
          </a:solidFill>
          <a:ln w="12700">
            <a:solidFill>
              <a:srgbClr val="1F3864"/>
            </a:solidFill>
            <a:prstDash val="solid"/>
          </a:ln>
        </p:spPr>
      </p:sp>
      <p:sp>
        <p:nvSpPr>
          <p:cNvPr id="6" name="Text 4"/>
          <p:cNvSpPr/>
          <p:nvPr/>
        </p:nvSpPr>
        <p:spPr>
          <a:xfrm>
            <a:off x="320040" y="804672"/>
            <a:ext cx="85039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RQ3: Does Elastic Net Consistently Outperform L1/L2?</a:t>
            </a:r>
            <a:endParaRPr lang="en-US" sz="1300" dirty="0"/>
          </a:p>
        </p:txBody>
      </p:sp>
      <p:sp>
        <p:nvSpPr>
          <p:cNvPr id="7" name="Text 5"/>
          <p:cNvSpPr/>
          <p:nvPr/>
        </p:nvSpPr>
        <p:spPr>
          <a:xfrm>
            <a:off x="320040" y="1115568"/>
            <a:ext cx="8321040" cy="658368"/>
          </a:xfrm>
          <a:prstGeom prst="rect">
            <a:avLst/>
          </a:prstGeom>
          <a:noFill/>
          <a:ln/>
        </p:spPr>
        <p:txBody>
          <a:bodyPr wrap="square"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Answer: NO. </a:t>
            </a:r>
            <a:r>
              <a:rPr lang="en-US" sz="1300" dirty="0">
                <a:solidFill>
                  <a:srgbClr val="1E293B"/>
                </a:solidFill>
                <a:latin typeface="Calibri" pitchFamily="34" charset="0"/>
                <a:ea typeface="Calibri" pitchFamily="34" charset="-122"/>
                <a:cs typeface="Calibri" pitchFamily="34" charset="-120"/>
              </a:rPr>
              <a:t>Elastic Net does not consistently dominate either penalty. PCA orthogonalisation removes feature correlations that Elastic Net is designed to exploit, its grouping effect provides no benefit when features are already decorrelated.</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2699537618"/>
              </p:ext>
            </p:extLst>
          </p:nvPr>
        </p:nvGraphicFramePr>
        <p:xfrm>
          <a:off x="274320" y="1810512"/>
          <a:ext cx="8595360" cy="1076960"/>
        </p:xfrm>
        <a:graphic>
          <a:graphicData uri="http://schemas.openxmlformats.org/drawingml/2006/table">
            <a:tbl>
              <a:tblPr/>
              <a:tblGrid>
                <a:gridCol w="1371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Dataset</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L1 (Lasso)</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Elastic Net</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L2 (Ridge)</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Winner</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0">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D1</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0.9987 </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0.9983</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0.9979</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L1</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extLst>
                  <a:ext uri="{0D108BD9-81ED-4DB2-BD59-A6C34878D82A}">
                    <a16:rowId xmlns:a16="http://schemas.microsoft.com/office/drawing/2014/main" val="10001"/>
                  </a:ext>
                </a:extLst>
              </a:tr>
              <a:tr h="0">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D2</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0.9571 </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0.9495</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0.9509</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L1</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D3</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0.9366 </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0.9288</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0.9271</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L1</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extLst>
                  <a:ext uri="{0D108BD9-81ED-4DB2-BD59-A6C34878D82A}">
                    <a16:rowId xmlns:a16="http://schemas.microsoft.com/office/drawing/2014/main" val="10003"/>
                  </a:ext>
                </a:extLst>
              </a:tr>
            </a:tbl>
          </a:graphicData>
        </a:graphic>
      </p:graphicFrame>
      <p:sp>
        <p:nvSpPr>
          <p:cNvPr id="9" name="Shape 6"/>
          <p:cNvSpPr/>
          <p:nvPr/>
        </p:nvSpPr>
        <p:spPr>
          <a:xfrm>
            <a:off x="274320" y="2852928"/>
            <a:ext cx="8595360" cy="0"/>
          </a:xfrm>
          <a:prstGeom prst="line">
            <a:avLst/>
          </a:prstGeom>
          <a:noFill/>
          <a:ln w="12700">
            <a:solidFill>
              <a:srgbClr val="CBD5E1"/>
            </a:solidFill>
            <a:prstDash val="solid"/>
          </a:ln>
        </p:spPr>
      </p:sp>
      <p:sp>
        <p:nvSpPr>
          <p:cNvPr id="10" name="Shape 7"/>
          <p:cNvSpPr/>
          <p:nvPr/>
        </p:nvSpPr>
        <p:spPr>
          <a:xfrm>
            <a:off x="274320" y="2907792"/>
            <a:ext cx="8595360" cy="274320"/>
          </a:xfrm>
          <a:prstGeom prst="rect">
            <a:avLst/>
          </a:prstGeom>
          <a:solidFill>
            <a:srgbClr val="2E4E8A"/>
          </a:solidFill>
          <a:ln w="12700">
            <a:solidFill>
              <a:srgbClr val="2E4E8A"/>
            </a:solidFill>
            <a:prstDash val="solid"/>
          </a:ln>
        </p:spPr>
      </p:sp>
      <p:sp>
        <p:nvSpPr>
          <p:cNvPr id="11" name="Text 8"/>
          <p:cNvSpPr/>
          <p:nvPr/>
        </p:nvSpPr>
        <p:spPr>
          <a:xfrm>
            <a:off x="320040" y="2907792"/>
            <a:ext cx="85039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RQ4: How Does Imbalance Handling Interact with Regularization?</a:t>
            </a:r>
            <a:endParaRPr lang="en-US" sz="1300" dirty="0"/>
          </a:p>
        </p:txBody>
      </p:sp>
      <p:graphicFrame>
        <p:nvGraphicFramePr>
          <p:cNvPr id="25" name="Table 1"/>
          <p:cNvGraphicFramePr>
            <a:graphicFrameLocks noGrp="1"/>
          </p:cNvGraphicFramePr>
          <p:nvPr>
            <p:extLst>
              <p:ext uri="{D42A27DB-BD31-4B8C-83A1-F6EECF244321}">
                <p14:modId xmlns:p14="http://schemas.microsoft.com/office/powerpoint/2010/main" val="1412707281"/>
              </p:ext>
            </p:extLst>
          </p:nvPr>
        </p:nvGraphicFramePr>
        <p:xfrm>
          <a:off x="274320" y="3218688"/>
          <a:ext cx="8595360" cy="1076960"/>
        </p:xfrm>
        <a:graphic>
          <a:graphicData uri="http://schemas.openxmlformats.org/drawingml/2006/table">
            <a:tbl>
              <a:tblPr/>
              <a:tblGrid>
                <a:gridCol w="214884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tblGrid>
              <a:tr h="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Regularization</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No Resampling</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Best Technique</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Improvement</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0">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L1 (Lasso)</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0.923</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0.934 (Undersampling)</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extLst>
                  <a:ext uri="{0D108BD9-81ED-4DB2-BD59-A6C34878D82A}">
                    <a16:rowId xmlns:a16="http://schemas.microsoft.com/office/drawing/2014/main" val="10001"/>
                  </a:ext>
                </a:extLst>
              </a:tr>
              <a:tr h="0">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L2 (Ridge)</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0.908</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0.941 (Undersampling)</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Elastic Net</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0.915</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0.940 (Undersampling)</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4FF"/>
                    </a:solidFill>
                  </a:tcPr>
                </a:tc>
                <a:extLst>
                  <a:ext uri="{0D108BD9-81ED-4DB2-BD59-A6C34878D82A}">
                    <a16:rowId xmlns:a16="http://schemas.microsoft.com/office/drawing/2014/main" val="10003"/>
                  </a:ext>
                </a:extLst>
              </a:tr>
            </a:tbl>
          </a:graphicData>
        </a:graphic>
      </p:graphicFrame>
      <p:sp>
        <p:nvSpPr>
          <p:cNvPr id="8" name="Shape 9"/>
          <p:cNvSpPr/>
          <p:nvPr/>
        </p:nvSpPr>
        <p:spPr>
          <a:xfrm>
            <a:off x="274320" y="4462272"/>
            <a:ext cx="8595360" cy="457200"/>
          </a:xfrm>
          <a:prstGeom prst="rect">
            <a:avLst/>
          </a:prstGeom>
          <a:solidFill>
            <a:srgbClr val="FFF3EE"/>
          </a:solidFill>
          <a:ln w="25400">
            <a:solidFill>
              <a:srgbClr val="FF6B35"/>
            </a:solidFill>
            <a:prstDash val="solid"/>
          </a:ln>
        </p:spPr>
      </p:sp>
      <p:sp>
        <p:nvSpPr>
          <p:cNvPr id="14" name="Shape 10"/>
          <p:cNvSpPr/>
          <p:nvPr/>
        </p:nvSpPr>
        <p:spPr>
          <a:xfrm>
            <a:off x="274320" y="4462272"/>
            <a:ext cx="64008" cy="457200"/>
          </a:xfrm>
          <a:prstGeom prst="rect">
            <a:avLst/>
          </a:prstGeom>
          <a:solidFill>
            <a:srgbClr val="FF6B35"/>
          </a:solidFill>
          <a:ln w="12700">
            <a:solidFill>
              <a:srgbClr val="FF6B35"/>
            </a:solidFill>
            <a:prstDash val="solid"/>
          </a:ln>
        </p:spPr>
      </p:sp>
      <p:sp>
        <p:nvSpPr>
          <p:cNvPr id="15" name="Text 11"/>
          <p:cNvSpPr/>
          <p:nvPr/>
        </p:nvSpPr>
        <p:spPr>
          <a:xfrm>
            <a:off x="411480" y="4462272"/>
            <a:ext cx="8412480" cy="457200"/>
          </a:xfrm>
          <a:prstGeom prst="rect">
            <a:avLst/>
          </a:prstGeom>
          <a:noFill/>
          <a:ln/>
        </p:spPr>
        <p:txBody>
          <a:bodyPr wrap="square" rtlCol="0" anchor="ctr"/>
          <a:lstStyle/>
          <a:p>
            <a:pPr marL="0" indent="0">
              <a:buNone/>
            </a:pPr>
            <a:r>
              <a:rPr lang="en-US" sz="1200" b="1" dirty="0">
                <a:solidFill>
                  <a:srgbClr val="7A2700"/>
                </a:solidFill>
                <a:latin typeface="Calibri" pitchFamily="34" charset="0"/>
                <a:ea typeface="Calibri" pitchFamily="34" charset="-122"/>
                <a:cs typeface="Calibri" pitchFamily="34" charset="-120"/>
              </a:rPr>
              <a:t>L1 is inherently imbalance robust  only +1.1% improvement with resampling vs +3.3% for L2. L1's sparsity partially compensates for class imbalance.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w="12700">
            <a:solidFill>
              <a:srgbClr val="1F3864"/>
            </a:solidFill>
            <a:prstDash val="solid"/>
          </a:ln>
        </p:spPr>
      </p:sp>
      <p:sp>
        <p:nvSpPr>
          <p:cNvPr id="3" name="Text 1"/>
          <p:cNvSpPr/>
          <p:nvPr/>
        </p:nvSpPr>
        <p:spPr>
          <a:xfrm>
            <a:off x="320040" y="36576"/>
            <a:ext cx="8503920" cy="61264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Findings &amp; Recommendations</a:t>
            </a:r>
            <a:endParaRPr lang="en-US" sz="2200" dirty="0"/>
          </a:p>
        </p:txBody>
      </p:sp>
      <p:sp>
        <p:nvSpPr>
          <p:cNvPr id="4" name="Text 2"/>
          <p:cNvSpPr/>
          <p:nvPr/>
        </p:nvSpPr>
        <p:spPr>
          <a:xfrm>
            <a:off x="7772400" y="4892040"/>
            <a:ext cx="1188720" cy="201168"/>
          </a:xfrm>
          <a:prstGeom prst="rect">
            <a:avLst/>
          </a:prstGeom>
          <a:noFill/>
          <a:ln/>
        </p:spPr>
        <p:txBody>
          <a:bodyPr wrap="square" rtlCol="0" anchor="ctr"/>
          <a:lstStyle/>
          <a:p>
            <a:pPr marL="0" indent="0" algn="r">
              <a:buNone/>
            </a:pPr>
            <a:endParaRPr lang="en-US" sz="900" dirty="0"/>
          </a:p>
        </p:txBody>
      </p:sp>
      <p:sp>
        <p:nvSpPr>
          <p:cNvPr id="5" name="Shape 3"/>
          <p:cNvSpPr/>
          <p:nvPr/>
        </p:nvSpPr>
        <p:spPr>
          <a:xfrm>
            <a:off x="274320" y="841248"/>
            <a:ext cx="4114800" cy="1024128"/>
          </a:xfrm>
          <a:prstGeom prst="rect">
            <a:avLst/>
          </a:prstGeom>
          <a:solidFill>
            <a:srgbClr val="FFFFFF"/>
          </a:solidFill>
          <a:ln w="25400">
            <a:solidFill>
              <a:srgbClr val="1F3864"/>
            </a:solidFill>
            <a:prstDash val="solid"/>
          </a:ln>
          <a:effectLst>
            <a:outerShdw blurRad="63500" dist="25400" dir="8100000" algn="bl" rotWithShape="0">
              <a:srgbClr val="000000">
                <a:alpha val="12000"/>
              </a:srgbClr>
            </a:outerShdw>
          </a:effectLst>
        </p:spPr>
      </p:sp>
      <p:sp>
        <p:nvSpPr>
          <p:cNvPr id="6" name="Shape 4"/>
          <p:cNvSpPr/>
          <p:nvPr/>
        </p:nvSpPr>
        <p:spPr>
          <a:xfrm>
            <a:off x="274320" y="841248"/>
            <a:ext cx="502920" cy="1024128"/>
          </a:xfrm>
          <a:prstGeom prst="rect">
            <a:avLst/>
          </a:prstGeom>
          <a:solidFill>
            <a:srgbClr val="1F3864"/>
          </a:solidFill>
          <a:ln w="12700">
            <a:solidFill>
              <a:srgbClr val="1F3864"/>
            </a:solidFill>
            <a:prstDash val="solid"/>
          </a:ln>
        </p:spPr>
      </p:sp>
      <p:sp>
        <p:nvSpPr>
          <p:cNvPr id="7" name="Text 5"/>
          <p:cNvSpPr/>
          <p:nvPr/>
        </p:nvSpPr>
        <p:spPr>
          <a:xfrm>
            <a:off x="274320" y="841248"/>
            <a:ext cx="502920" cy="10241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868680" y="905256"/>
            <a:ext cx="3429000" cy="320040"/>
          </a:xfrm>
          <a:prstGeom prst="rect">
            <a:avLst/>
          </a:prstGeom>
          <a:noFill/>
          <a:ln/>
        </p:spPr>
        <p:txBody>
          <a:bodyPr wrap="square"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Preprocessing is #1</a:t>
            </a:r>
            <a:endParaRPr lang="en-US" sz="1200" dirty="0"/>
          </a:p>
        </p:txBody>
      </p:sp>
      <p:sp>
        <p:nvSpPr>
          <p:cNvPr id="9" name="Text 7"/>
          <p:cNvSpPr/>
          <p:nvPr/>
        </p:nvSpPr>
        <p:spPr>
          <a:xfrm>
            <a:off x="868680" y="1234440"/>
            <a:ext cx="3429000" cy="59436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Pipeline B (feature engineering) yields 50-78% higher F1 than Pipeline A. Always extract spectral features BEFORE scaling.</a:t>
            </a:r>
            <a:endParaRPr lang="en-US" sz="1000" dirty="0"/>
          </a:p>
        </p:txBody>
      </p:sp>
      <p:sp>
        <p:nvSpPr>
          <p:cNvPr id="10" name="Shape 8"/>
          <p:cNvSpPr/>
          <p:nvPr/>
        </p:nvSpPr>
        <p:spPr>
          <a:xfrm>
            <a:off x="274320" y="1984248"/>
            <a:ext cx="4114800" cy="1024128"/>
          </a:xfrm>
          <a:prstGeom prst="rect">
            <a:avLst/>
          </a:prstGeom>
          <a:solidFill>
            <a:srgbClr val="FFFFFF"/>
          </a:solidFill>
          <a:ln w="25400">
            <a:solidFill>
              <a:srgbClr val="FF6B35"/>
            </a:solidFill>
            <a:prstDash val="solid"/>
          </a:ln>
          <a:effectLst>
            <a:outerShdw blurRad="63500" dist="25400" dir="8100000" algn="bl" rotWithShape="0">
              <a:srgbClr val="000000">
                <a:alpha val="12000"/>
              </a:srgbClr>
            </a:outerShdw>
          </a:effectLst>
        </p:spPr>
      </p:sp>
      <p:sp>
        <p:nvSpPr>
          <p:cNvPr id="11" name="Shape 9"/>
          <p:cNvSpPr/>
          <p:nvPr/>
        </p:nvSpPr>
        <p:spPr>
          <a:xfrm>
            <a:off x="274320" y="1984248"/>
            <a:ext cx="502920" cy="1024128"/>
          </a:xfrm>
          <a:prstGeom prst="rect">
            <a:avLst/>
          </a:prstGeom>
          <a:solidFill>
            <a:srgbClr val="FF6B35"/>
          </a:solidFill>
          <a:ln w="12700">
            <a:solidFill>
              <a:srgbClr val="FF6B35"/>
            </a:solidFill>
            <a:prstDash val="solid"/>
          </a:ln>
        </p:spPr>
      </p:sp>
      <p:sp>
        <p:nvSpPr>
          <p:cNvPr id="12" name="Text 10"/>
          <p:cNvSpPr/>
          <p:nvPr/>
        </p:nvSpPr>
        <p:spPr>
          <a:xfrm>
            <a:off x="274320" y="1984248"/>
            <a:ext cx="502920" cy="10241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868680" y="2048256"/>
            <a:ext cx="3429000" cy="320040"/>
          </a:xfrm>
          <a:prstGeom prst="rect">
            <a:avLst/>
          </a:prstGeom>
          <a:noFill/>
          <a:ln/>
        </p:spPr>
        <p:txBody>
          <a:bodyPr wrap="square" rtlCol="0" anchor="ctr"/>
          <a:lstStyle/>
          <a:p>
            <a:pPr marL="0" indent="0">
              <a:buNone/>
            </a:pPr>
            <a:r>
              <a:rPr lang="en-US" sz="1200" b="1" dirty="0">
                <a:solidFill>
                  <a:srgbClr val="FF6B35"/>
                </a:solidFill>
                <a:latin typeface="Calibri" pitchFamily="34" charset="0"/>
                <a:ea typeface="Calibri" pitchFamily="34" charset="-122"/>
                <a:cs typeface="Calibri" pitchFamily="34" charset="-120"/>
              </a:rPr>
              <a:t>L1 (Lasso) Generalises Best</a:t>
            </a:r>
            <a:endParaRPr lang="en-US" sz="1200" dirty="0"/>
          </a:p>
        </p:txBody>
      </p:sp>
      <p:sp>
        <p:nvSpPr>
          <p:cNvPr id="14" name="Text 12"/>
          <p:cNvSpPr/>
          <p:nvPr/>
        </p:nvSpPr>
        <p:spPr>
          <a:xfrm>
            <a:off x="868680" y="2377440"/>
            <a:ext cx="3429000" cy="59436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Wins on all 3 datasets. Sparsity provides automatic feature selection — even after PCA dimensionality reduction.</a:t>
            </a:r>
            <a:endParaRPr lang="en-US" sz="1000" dirty="0"/>
          </a:p>
        </p:txBody>
      </p:sp>
      <p:sp>
        <p:nvSpPr>
          <p:cNvPr id="15" name="Shape 13"/>
          <p:cNvSpPr/>
          <p:nvPr/>
        </p:nvSpPr>
        <p:spPr>
          <a:xfrm>
            <a:off x="274320" y="3127248"/>
            <a:ext cx="4114800" cy="1024128"/>
          </a:xfrm>
          <a:prstGeom prst="rect">
            <a:avLst/>
          </a:prstGeom>
          <a:solidFill>
            <a:srgbClr val="FFFFFF"/>
          </a:solidFill>
          <a:ln w="25400">
            <a:solidFill>
              <a:srgbClr val="8E44AD"/>
            </a:solidFill>
            <a:prstDash val="solid"/>
          </a:ln>
          <a:effectLst>
            <a:outerShdw blurRad="63500" dist="25400" dir="8100000" algn="bl" rotWithShape="0">
              <a:srgbClr val="000000">
                <a:alpha val="12000"/>
              </a:srgbClr>
            </a:outerShdw>
          </a:effectLst>
        </p:spPr>
      </p:sp>
      <p:sp>
        <p:nvSpPr>
          <p:cNvPr id="16" name="Shape 14"/>
          <p:cNvSpPr/>
          <p:nvPr/>
        </p:nvSpPr>
        <p:spPr>
          <a:xfrm>
            <a:off x="274320" y="3127248"/>
            <a:ext cx="502920" cy="1024128"/>
          </a:xfrm>
          <a:prstGeom prst="rect">
            <a:avLst/>
          </a:prstGeom>
          <a:solidFill>
            <a:srgbClr val="8E44AD"/>
          </a:solidFill>
          <a:ln w="12700">
            <a:solidFill>
              <a:srgbClr val="8E44AD"/>
            </a:solidFill>
            <a:prstDash val="solid"/>
          </a:ln>
        </p:spPr>
      </p:sp>
      <p:sp>
        <p:nvSpPr>
          <p:cNvPr id="17" name="Text 15"/>
          <p:cNvSpPr/>
          <p:nvPr/>
        </p:nvSpPr>
        <p:spPr>
          <a:xfrm>
            <a:off x="274320" y="3127248"/>
            <a:ext cx="502920" cy="10241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8" name="Text 16"/>
          <p:cNvSpPr/>
          <p:nvPr/>
        </p:nvSpPr>
        <p:spPr>
          <a:xfrm>
            <a:off x="868680" y="3191256"/>
            <a:ext cx="3429000" cy="320040"/>
          </a:xfrm>
          <a:prstGeom prst="rect">
            <a:avLst/>
          </a:prstGeom>
          <a:noFill/>
          <a:ln/>
        </p:spPr>
        <p:txBody>
          <a:bodyPr wrap="square" rtlCol="0" anchor="ctr"/>
          <a:lstStyle/>
          <a:p>
            <a:pPr marL="0" indent="0">
              <a:buNone/>
            </a:pPr>
            <a:r>
              <a:rPr lang="en-US" sz="1200" b="1" dirty="0">
                <a:solidFill>
                  <a:srgbClr val="8E44AD"/>
                </a:solidFill>
                <a:latin typeface="Calibri" pitchFamily="34" charset="0"/>
                <a:ea typeface="Calibri" pitchFamily="34" charset="-122"/>
                <a:cs typeface="Calibri" pitchFamily="34" charset="-120"/>
              </a:rPr>
              <a:t>Elastic Net is Context-Dependent</a:t>
            </a:r>
            <a:endParaRPr lang="en-US" sz="1200" dirty="0"/>
          </a:p>
        </p:txBody>
      </p:sp>
      <p:sp>
        <p:nvSpPr>
          <p:cNvPr id="19" name="Text 17"/>
          <p:cNvSpPr/>
          <p:nvPr/>
        </p:nvSpPr>
        <p:spPr>
          <a:xfrm>
            <a:off x="868680" y="3520440"/>
            <a:ext cx="3429000" cy="59436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Does NOT consistently outperform L1/L2 when features are orthogonalised by PCA. Don't assume it's always superior.</a:t>
            </a:r>
            <a:endParaRPr lang="en-US" sz="1000" dirty="0"/>
          </a:p>
        </p:txBody>
      </p:sp>
      <p:sp>
        <p:nvSpPr>
          <p:cNvPr id="20" name="Shape 18"/>
          <p:cNvSpPr/>
          <p:nvPr/>
        </p:nvSpPr>
        <p:spPr>
          <a:xfrm>
            <a:off x="4663440" y="841248"/>
            <a:ext cx="4114800" cy="1024128"/>
          </a:xfrm>
          <a:prstGeom prst="rect">
            <a:avLst/>
          </a:prstGeom>
          <a:solidFill>
            <a:srgbClr val="FFFFFF"/>
          </a:solidFill>
          <a:ln w="25400">
            <a:solidFill>
              <a:srgbClr val="2E8B57"/>
            </a:solidFill>
            <a:prstDash val="solid"/>
          </a:ln>
          <a:effectLst>
            <a:outerShdw blurRad="63500" dist="25400" dir="8100000" algn="bl" rotWithShape="0">
              <a:srgbClr val="000000">
                <a:alpha val="12000"/>
              </a:srgbClr>
            </a:outerShdw>
          </a:effectLst>
        </p:spPr>
      </p:sp>
      <p:sp>
        <p:nvSpPr>
          <p:cNvPr id="21" name="Shape 19"/>
          <p:cNvSpPr/>
          <p:nvPr/>
        </p:nvSpPr>
        <p:spPr>
          <a:xfrm>
            <a:off x="4663440" y="841248"/>
            <a:ext cx="502920" cy="1024128"/>
          </a:xfrm>
          <a:prstGeom prst="rect">
            <a:avLst/>
          </a:prstGeom>
          <a:solidFill>
            <a:srgbClr val="2E8B57"/>
          </a:solidFill>
          <a:ln w="12700">
            <a:solidFill>
              <a:srgbClr val="2E8B57"/>
            </a:solidFill>
            <a:prstDash val="solid"/>
          </a:ln>
        </p:spPr>
      </p:sp>
      <p:sp>
        <p:nvSpPr>
          <p:cNvPr id="22" name="Text 20"/>
          <p:cNvSpPr/>
          <p:nvPr/>
        </p:nvSpPr>
        <p:spPr>
          <a:xfrm>
            <a:off x="4663440" y="841248"/>
            <a:ext cx="502920" cy="10241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3" name="Text 21"/>
          <p:cNvSpPr/>
          <p:nvPr/>
        </p:nvSpPr>
        <p:spPr>
          <a:xfrm>
            <a:off x="5257800" y="905256"/>
            <a:ext cx="3429000" cy="320040"/>
          </a:xfrm>
          <a:prstGeom prst="rect">
            <a:avLst/>
          </a:prstGeom>
          <a:noFill/>
          <a:ln/>
        </p:spPr>
        <p:txBody>
          <a:bodyPr wrap="square" rtlCol="0" anchor="ctr"/>
          <a:lstStyle/>
          <a:p>
            <a:pPr marL="0" indent="0">
              <a:buNone/>
            </a:pPr>
            <a:r>
              <a:rPr lang="en-US" sz="1200" b="1" dirty="0">
                <a:solidFill>
                  <a:srgbClr val="2E8B57"/>
                </a:solidFill>
                <a:latin typeface="Calibri" pitchFamily="34" charset="0"/>
                <a:ea typeface="Calibri" pitchFamily="34" charset="-122"/>
                <a:cs typeface="Calibri" pitchFamily="34" charset="-120"/>
              </a:rPr>
              <a:t>Use SMOTE for Imbalanced EEG</a:t>
            </a:r>
            <a:endParaRPr lang="en-US" sz="1200" dirty="0"/>
          </a:p>
        </p:txBody>
      </p:sp>
      <p:sp>
        <p:nvSpPr>
          <p:cNvPr id="24" name="Text 22"/>
          <p:cNvSpPr/>
          <p:nvPr/>
        </p:nvSpPr>
        <p:spPr>
          <a:xfrm>
            <a:off x="5257800" y="1234440"/>
            <a:ext cx="3429000" cy="59436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Best PR-AUC and recall across all techniques. Recall is clinically critical — missing a seizure is unacceptable.</a:t>
            </a:r>
            <a:endParaRPr lang="en-US" sz="1000" dirty="0"/>
          </a:p>
        </p:txBody>
      </p:sp>
      <p:sp>
        <p:nvSpPr>
          <p:cNvPr id="25" name="Shape 23"/>
          <p:cNvSpPr/>
          <p:nvPr/>
        </p:nvSpPr>
        <p:spPr>
          <a:xfrm>
            <a:off x="4663440" y="1984248"/>
            <a:ext cx="4114800" cy="1024128"/>
          </a:xfrm>
          <a:prstGeom prst="rect">
            <a:avLst/>
          </a:prstGeom>
          <a:solidFill>
            <a:srgbClr val="FFFFFF"/>
          </a:solidFill>
          <a:ln w="25400">
            <a:solidFill>
              <a:srgbClr val="2980B9"/>
            </a:solidFill>
            <a:prstDash val="solid"/>
          </a:ln>
          <a:effectLst>
            <a:outerShdw blurRad="63500" dist="25400" dir="8100000" algn="bl" rotWithShape="0">
              <a:srgbClr val="000000">
                <a:alpha val="12000"/>
              </a:srgbClr>
            </a:outerShdw>
          </a:effectLst>
        </p:spPr>
      </p:sp>
      <p:sp>
        <p:nvSpPr>
          <p:cNvPr id="26" name="Shape 24"/>
          <p:cNvSpPr/>
          <p:nvPr/>
        </p:nvSpPr>
        <p:spPr>
          <a:xfrm>
            <a:off x="4663440" y="1984248"/>
            <a:ext cx="502920" cy="1024128"/>
          </a:xfrm>
          <a:prstGeom prst="rect">
            <a:avLst/>
          </a:prstGeom>
          <a:solidFill>
            <a:srgbClr val="2980B9"/>
          </a:solidFill>
          <a:ln w="12700">
            <a:solidFill>
              <a:srgbClr val="2980B9"/>
            </a:solidFill>
            <a:prstDash val="solid"/>
          </a:ln>
        </p:spPr>
      </p:sp>
      <p:sp>
        <p:nvSpPr>
          <p:cNvPr id="27" name="Text 25"/>
          <p:cNvSpPr/>
          <p:nvPr/>
        </p:nvSpPr>
        <p:spPr>
          <a:xfrm>
            <a:off x="4663440" y="1984248"/>
            <a:ext cx="502920" cy="10241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8" name="Text 26"/>
          <p:cNvSpPr/>
          <p:nvPr/>
        </p:nvSpPr>
        <p:spPr>
          <a:xfrm>
            <a:off x="5257800" y="2048256"/>
            <a:ext cx="3429000" cy="320040"/>
          </a:xfrm>
          <a:prstGeom prst="rect">
            <a:avLst/>
          </a:prstGeom>
          <a:noFill/>
          <a:ln/>
        </p:spPr>
        <p:txBody>
          <a:bodyPr wrap="square" rtlCol="0" anchor="ctr"/>
          <a:lstStyle/>
          <a:p>
            <a:pPr marL="0" indent="0">
              <a:buNone/>
            </a:pPr>
            <a:r>
              <a:rPr lang="en-US" sz="1200" b="1" dirty="0">
                <a:solidFill>
                  <a:srgbClr val="2980B9"/>
                </a:solidFill>
                <a:latin typeface="Calibri" pitchFamily="34" charset="0"/>
                <a:ea typeface="Calibri" pitchFamily="34" charset="-122"/>
                <a:cs typeface="Calibri" pitchFamily="34" charset="-120"/>
              </a:rPr>
              <a:t>L1 + No Resampling = Robust Baseline</a:t>
            </a:r>
            <a:endParaRPr lang="en-US" sz="1200" dirty="0"/>
          </a:p>
        </p:txBody>
      </p:sp>
      <p:sp>
        <p:nvSpPr>
          <p:cNvPr id="29" name="Text 27"/>
          <p:cNvSpPr/>
          <p:nvPr/>
        </p:nvSpPr>
        <p:spPr>
          <a:xfrm>
            <a:off x="5257800" y="2377440"/>
            <a:ext cx="3429000" cy="59436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L1's sparsity partially compensates for class imbalance, reducing the need for expensive resampling in clinical pipelines.</a:t>
            </a:r>
            <a:endParaRPr lang="en-US" sz="1000" dirty="0"/>
          </a:p>
        </p:txBody>
      </p:sp>
      <p:sp>
        <p:nvSpPr>
          <p:cNvPr id="30" name="Text 28"/>
          <p:cNvSpPr/>
          <p:nvPr/>
        </p:nvSpPr>
        <p:spPr>
          <a:xfrm>
            <a:off x="274320" y="4846320"/>
            <a:ext cx="8595360" cy="182880"/>
          </a:xfrm>
          <a:prstGeom prst="rect">
            <a:avLst/>
          </a:prstGeom>
          <a:noFill/>
          <a:ln/>
        </p:spPr>
        <p:txBody>
          <a:bodyPr wrap="square"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Advance Topics in Data Mining | Semester Major Assignment | May 2026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1097280"/>
          </a:xfrm>
          <a:prstGeom prst="rect">
            <a:avLst/>
          </a:prstGeom>
          <a:noFill/>
          <a:ln/>
        </p:spPr>
        <p:txBody>
          <a:bodyPr wrap="square" rtlCol="0" anchor="ctr"/>
          <a:lstStyle/>
          <a:p>
            <a:pPr marL="0" indent="0" algn="ctr">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3" name="Text 1"/>
          <p:cNvSpPr/>
          <p:nvPr/>
        </p:nvSpPr>
        <p:spPr>
          <a:xfrm>
            <a:off x="457200" y="1508760"/>
            <a:ext cx="8229600" cy="502920"/>
          </a:xfrm>
          <a:prstGeom prst="rect">
            <a:avLst/>
          </a:prstGeom>
          <a:noFill/>
          <a:ln/>
        </p:spPr>
        <p:txBody>
          <a:bodyPr wrap="square" rtlCol="0" anchor="ctr"/>
          <a:lstStyle/>
          <a:p>
            <a:pPr marL="0" indent="0" algn="ctr">
              <a:buNone/>
            </a:pPr>
            <a:endParaRPr lang="en-US" sz="2200" dirty="0"/>
          </a:p>
        </p:txBody>
      </p:sp>
      <p:sp>
        <p:nvSpPr>
          <p:cNvPr id="4" name="Shape 2"/>
          <p:cNvSpPr/>
          <p:nvPr/>
        </p:nvSpPr>
        <p:spPr>
          <a:xfrm>
            <a:off x="2743200" y="2103120"/>
            <a:ext cx="3657600" cy="45720"/>
          </a:xfrm>
          <a:prstGeom prst="rect">
            <a:avLst/>
          </a:prstGeom>
          <a:solidFill>
            <a:srgbClr val="FF6B35"/>
          </a:solidFill>
          <a:ln w="12700">
            <a:solidFill>
              <a:srgbClr val="FF6B35"/>
            </a:solidFill>
            <a:prstDash val="solid"/>
          </a:ln>
        </p:spPr>
      </p:sp>
      <p:sp>
        <p:nvSpPr>
          <p:cNvPr id="5" name="Shape 3"/>
          <p:cNvSpPr/>
          <p:nvPr/>
        </p:nvSpPr>
        <p:spPr>
          <a:xfrm>
            <a:off x="640080" y="2331720"/>
            <a:ext cx="7863840" cy="2148840"/>
          </a:xfrm>
          <a:prstGeom prst="rect">
            <a:avLst/>
          </a:prstGeom>
          <a:solidFill>
            <a:srgbClr val="1A3258"/>
          </a:solidFill>
          <a:ln w="12700">
            <a:solidFill>
              <a:srgbClr val="3A6298"/>
            </a:solidFill>
            <a:prstDash val="solid"/>
          </a:ln>
          <a:effectLst>
            <a:outerShdw blurRad="63500" dist="25400" dir="8100000" algn="bl" rotWithShape="0">
              <a:srgbClr val="000000">
                <a:alpha val="12000"/>
              </a:srgbClr>
            </a:outerShdw>
          </a:effectLst>
        </p:spPr>
      </p:sp>
      <p:sp>
        <p:nvSpPr>
          <p:cNvPr id="6" name="Text 4"/>
          <p:cNvSpPr/>
          <p:nvPr/>
        </p:nvSpPr>
        <p:spPr>
          <a:xfrm>
            <a:off x="822960" y="2395728"/>
            <a:ext cx="7498080" cy="320040"/>
          </a:xfrm>
          <a:prstGeom prst="rect">
            <a:avLst/>
          </a:prstGeom>
          <a:noFill/>
          <a:ln/>
        </p:spPr>
        <p:txBody>
          <a:bodyPr wrap="square" rtlCol="0" anchor="ctr"/>
          <a:lstStyle/>
          <a:p>
            <a:pPr marL="0" indent="0">
              <a:buNone/>
            </a:pPr>
            <a:r>
              <a:rPr lang="en-US" sz="1400" b="1" dirty="0">
                <a:solidFill>
                  <a:srgbClr val="FF6B35"/>
                </a:solidFill>
                <a:latin typeface="Calibri" pitchFamily="34" charset="0"/>
                <a:ea typeface="Calibri" pitchFamily="34" charset="-122"/>
                <a:cs typeface="Calibri" pitchFamily="34" charset="-120"/>
              </a:rPr>
              <a:t>Assignment Deliverables Summary</a:t>
            </a:r>
            <a:endParaRPr lang="en-US" sz="1400" dirty="0"/>
          </a:p>
        </p:txBody>
      </p:sp>
      <p:sp>
        <p:nvSpPr>
          <p:cNvPr id="7" name="Text 5"/>
          <p:cNvSpPr/>
          <p:nvPr/>
        </p:nvSpPr>
        <p:spPr>
          <a:xfrm>
            <a:off x="822960" y="2761488"/>
            <a:ext cx="7498080" cy="301752"/>
          </a:xfrm>
          <a:prstGeom prst="rect">
            <a:avLst/>
          </a:prstGeom>
          <a:noFill/>
          <a:ln/>
        </p:spPr>
        <p:txBody>
          <a:bodyPr wrap="square" rtlCol="0" anchor="ctr"/>
          <a:lstStyle/>
          <a:p>
            <a:pPr marL="0" indent="0">
              <a:buNone/>
            </a:pPr>
            <a:r>
              <a:rPr lang="en-US" sz="1100" b="1" dirty="0">
                <a:solidFill>
                  <a:srgbClr val="FF6B35"/>
                </a:solidFill>
                <a:latin typeface="Calibri" pitchFamily="34" charset="0"/>
                <a:ea typeface="Calibri" pitchFamily="34" charset="-122"/>
                <a:cs typeface="Calibri" pitchFamily="34" charset="-120"/>
              </a:rPr>
              <a:t>Dataset: </a:t>
            </a:r>
            <a:r>
              <a:rPr lang="en-US" sz="1100" dirty="0">
                <a:solidFill>
                  <a:srgbClr val="A8C4E0"/>
                </a:solidFill>
                <a:latin typeface="Calibri" pitchFamily="34" charset="0"/>
                <a:ea typeface="Calibri" pitchFamily="34" charset="-122"/>
                <a:cs typeface="Calibri" pitchFamily="34" charset="-120"/>
              </a:rPr>
              <a:t>7,500 EEG samples | 5 classes | 512 features per segment</a:t>
            </a:r>
            <a:endParaRPr lang="en-US" sz="1100" dirty="0"/>
          </a:p>
        </p:txBody>
      </p:sp>
      <p:sp>
        <p:nvSpPr>
          <p:cNvPr id="8" name="Text 6"/>
          <p:cNvSpPr/>
          <p:nvPr/>
        </p:nvSpPr>
        <p:spPr>
          <a:xfrm>
            <a:off x="822960" y="3090672"/>
            <a:ext cx="7498080" cy="301752"/>
          </a:xfrm>
          <a:prstGeom prst="rect">
            <a:avLst/>
          </a:prstGeom>
          <a:noFill/>
          <a:ln/>
        </p:spPr>
        <p:txBody>
          <a:bodyPr wrap="square" rtlCol="0" anchor="ctr"/>
          <a:lstStyle/>
          <a:p>
            <a:pPr marL="0" indent="0">
              <a:buNone/>
            </a:pPr>
            <a:r>
              <a:rPr lang="en-US" sz="1100" b="1" dirty="0">
                <a:solidFill>
                  <a:srgbClr val="FF6B35"/>
                </a:solidFill>
                <a:latin typeface="Calibri" pitchFamily="34" charset="0"/>
                <a:ea typeface="Calibri" pitchFamily="34" charset="-122"/>
                <a:cs typeface="Calibri" pitchFamily="34" charset="-120"/>
              </a:rPr>
              <a:t>Experiments: </a:t>
            </a:r>
            <a:r>
              <a:rPr lang="en-US" sz="1100" dirty="0">
                <a:solidFill>
                  <a:srgbClr val="A8C4E0"/>
                </a:solidFill>
                <a:latin typeface="Calibri" pitchFamily="34" charset="0"/>
                <a:ea typeface="Calibri" pitchFamily="34" charset="-122"/>
                <a:cs typeface="Calibri" pitchFamily="34" charset="-120"/>
              </a:rPr>
              <a:t>3 datasets (D1/D2/D3) | 2 pipelines | 3 regularisers | 3 imbalance techniques</a:t>
            </a:r>
            <a:endParaRPr lang="en-US" sz="1100" dirty="0"/>
          </a:p>
        </p:txBody>
      </p:sp>
      <p:sp>
        <p:nvSpPr>
          <p:cNvPr id="9" name="Text 7"/>
          <p:cNvSpPr/>
          <p:nvPr/>
        </p:nvSpPr>
        <p:spPr>
          <a:xfrm>
            <a:off x="822960" y="3419856"/>
            <a:ext cx="7498080" cy="301752"/>
          </a:xfrm>
          <a:prstGeom prst="rect">
            <a:avLst/>
          </a:prstGeom>
          <a:noFill/>
          <a:ln/>
        </p:spPr>
        <p:txBody>
          <a:bodyPr wrap="square" rtlCol="0" anchor="ctr"/>
          <a:lstStyle/>
          <a:p>
            <a:pPr marL="0" indent="0">
              <a:buNone/>
            </a:pPr>
            <a:r>
              <a:rPr lang="en-US" sz="1100" b="1" dirty="0">
                <a:solidFill>
                  <a:srgbClr val="FF6B35"/>
                </a:solidFill>
                <a:latin typeface="Calibri" pitchFamily="34" charset="0"/>
                <a:ea typeface="Calibri" pitchFamily="34" charset="-122"/>
                <a:cs typeface="Calibri" pitchFamily="34" charset="-120"/>
              </a:rPr>
              <a:t>Outputs: </a:t>
            </a:r>
            <a:r>
              <a:rPr lang="en-US" sz="1100" dirty="0">
                <a:solidFill>
                  <a:srgbClr val="A8C4E0"/>
                </a:solidFill>
                <a:latin typeface="Calibri" pitchFamily="34" charset="0"/>
                <a:ea typeface="Calibri" pitchFamily="34" charset="-122"/>
                <a:cs typeface="Calibri" pitchFamily="34" charset="-120"/>
              </a:rPr>
              <a:t>18 figures + 5 results tables + all_results.json</a:t>
            </a:r>
            <a:endParaRPr lang="en-US" sz="1100" dirty="0"/>
          </a:p>
        </p:txBody>
      </p:sp>
      <p:sp>
        <p:nvSpPr>
          <p:cNvPr id="10" name="Text 8"/>
          <p:cNvSpPr/>
          <p:nvPr/>
        </p:nvSpPr>
        <p:spPr>
          <a:xfrm>
            <a:off x="822960" y="3749040"/>
            <a:ext cx="7498080" cy="301752"/>
          </a:xfrm>
          <a:prstGeom prst="rect">
            <a:avLst/>
          </a:prstGeom>
          <a:noFill/>
          <a:ln/>
        </p:spPr>
        <p:txBody>
          <a:bodyPr wrap="square" rtlCol="0" anchor="ctr"/>
          <a:lstStyle/>
          <a:p>
            <a:pPr marL="0" indent="0">
              <a:buNone/>
            </a:pPr>
            <a:r>
              <a:rPr lang="en-US" sz="1100" b="1" dirty="0">
                <a:solidFill>
                  <a:srgbClr val="FF6B35"/>
                </a:solidFill>
                <a:latin typeface="Calibri" pitchFamily="34" charset="0"/>
                <a:ea typeface="Calibri" pitchFamily="34" charset="-122"/>
                <a:cs typeface="Calibri" pitchFamily="34" charset="-120"/>
              </a:rPr>
              <a:t>Code: </a:t>
            </a:r>
            <a:r>
              <a:rPr lang="en-US" sz="1100" dirty="0">
                <a:solidFill>
                  <a:srgbClr val="A8C4E0"/>
                </a:solidFill>
                <a:latin typeface="Calibri" pitchFamily="34" charset="0"/>
                <a:ea typeface="Calibri" pitchFamily="34" charset="-122"/>
                <a:cs typeface="Calibri" pitchFamily="34" charset="-120"/>
              </a:rPr>
              <a:t>seizure_prediction_assignment.py</a:t>
            </a:r>
            <a:endParaRPr lang="en-US" sz="1100" dirty="0"/>
          </a:p>
        </p:txBody>
      </p:sp>
      <p:sp>
        <p:nvSpPr>
          <p:cNvPr id="11" name="Text 9"/>
          <p:cNvSpPr/>
          <p:nvPr/>
        </p:nvSpPr>
        <p:spPr>
          <a:xfrm>
            <a:off x="822960" y="4078224"/>
            <a:ext cx="7498080" cy="301752"/>
          </a:xfrm>
          <a:prstGeom prst="rect">
            <a:avLst/>
          </a:prstGeom>
          <a:noFill/>
          <a:ln/>
        </p:spPr>
        <p:txBody>
          <a:bodyPr wrap="square" rtlCol="0" anchor="ctr"/>
          <a:lstStyle/>
          <a:p>
            <a:pPr marL="0" indent="0">
              <a:buNone/>
            </a:pPr>
            <a:r>
              <a:rPr lang="en-US" sz="1100" b="1" dirty="0">
                <a:solidFill>
                  <a:srgbClr val="FF6B35"/>
                </a:solidFill>
                <a:latin typeface="Calibri" pitchFamily="34" charset="0"/>
                <a:ea typeface="Calibri" pitchFamily="34" charset="-122"/>
                <a:cs typeface="Calibri" pitchFamily="34" charset="-120"/>
              </a:rPr>
              <a:t>Report: </a:t>
            </a:r>
            <a:r>
              <a:rPr lang="en-US" sz="1100" dirty="0">
                <a:solidFill>
                  <a:srgbClr val="A8C4E0"/>
                </a:solidFill>
                <a:latin typeface="Calibri" pitchFamily="34" charset="0"/>
                <a:ea typeface="Calibri" pitchFamily="34" charset="-122"/>
                <a:cs typeface="Calibri" pitchFamily="34" charset="-120"/>
              </a:rPr>
              <a:t>IEEE_Seizure_Prediction_Report.docx </a:t>
            </a:r>
            <a:endParaRPr lang="en-US" sz="1100" dirty="0"/>
          </a:p>
        </p:txBody>
      </p:sp>
      <p:sp>
        <p:nvSpPr>
          <p:cNvPr id="12" name="Text 10"/>
          <p:cNvSpPr/>
          <p:nvPr/>
        </p:nvSpPr>
        <p:spPr>
          <a:xfrm>
            <a:off x="0" y="4745935"/>
            <a:ext cx="9144000" cy="274320"/>
          </a:xfrm>
          <a:prstGeom prst="rect">
            <a:avLst/>
          </a:prstGeom>
          <a:noFill/>
          <a:ln/>
        </p:spPr>
        <p:txBody>
          <a:bodyPr wrap="square" rtlCol="0" anchor="ctr"/>
          <a:lstStyle/>
          <a:p>
            <a:pPr marL="0" indent="0" algn="ctr">
              <a:buNone/>
            </a:pPr>
            <a:r>
              <a:rPr lang="en-US" sz="1000" dirty="0">
                <a:solidFill>
                  <a:srgbClr val="4A6A98"/>
                </a:solidFill>
                <a:latin typeface="Calibri" pitchFamily="34" charset="0"/>
                <a:ea typeface="Calibri" pitchFamily="34" charset="-122"/>
                <a:cs typeface="Calibri" pitchFamily="34" charset="-120"/>
              </a:rPr>
              <a:t>Advance Topics in Data Mining  |  Ali Abdur Rehman |  May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1496</Words>
  <Application>Microsoft Office PowerPoint</Application>
  <PresentationFormat>On-screen Show (16:9)</PresentationFormat>
  <Paragraphs>350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Seizure Prediction Using Logistic Regression</dc:title>
  <dc:subject>PptxGenJS Presentation</dc:subject>
  <dc:creator>Student</dc:creator>
  <cp:lastModifiedBy>LENOVO</cp:lastModifiedBy>
  <cp:revision>4</cp:revision>
  <dcterms:created xsi:type="dcterms:W3CDTF">2026-05-08T13:42:10Z</dcterms:created>
  <dcterms:modified xsi:type="dcterms:W3CDTF">2026-05-09T15:17:31Z</dcterms:modified>
</cp:coreProperties>
</file>